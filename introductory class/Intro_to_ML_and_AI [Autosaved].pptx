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88825" cy="6858000"/>
  <p:notesSz cx="6858000" cy="1218882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011" autoAdjust="0"/>
    <p:restoredTop sz="94610"/>
  </p:normalViewPr>
  <p:slideViewPr>
    <p:cSldViewPr snapToGrid="0" snapToObjects="1">
      <p:cViewPr varScale="1">
        <p:scale>
          <a:sx n="77" d="100"/>
          <a:sy n="77" d="100"/>
        </p:scale>
        <p:origin x="77" y="2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75753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26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5544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WEEK 1  ·  THE BIG PICTURE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77240" y="1874520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 to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777240" y="256032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Machine Learning &amp; AI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822960" y="342900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8FA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these words actually mean, before you write a single line of code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0332720" y="1554480"/>
            <a:ext cx="1097280" cy="1097280"/>
          </a:xfrm>
          <a:prstGeom prst="ellipse">
            <a:avLst/>
          </a:prstGeom>
          <a:solidFill>
            <a:srgbClr val="FFD43B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75366" y="1697126"/>
            <a:ext cx="811987" cy="811987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BIG PICTURE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858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Artificial Intelligence?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is the broad field. Machine Learning and Deep Learning are specific approaches inside it.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143000" y="2103120"/>
            <a:ext cx="3931920" cy="3931920"/>
          </a:xfrm>
          <a:prstGeom prst="ellipse">
            <a:avLst/>
          </a:prstGeom>
          <a:solidFill>
            <a:srgbClr val="00B0F0"/>
          </a:solidFill>
          <a:ln w="25400">
            <a:solidFill>
              <a:srgbClr val="1B4B6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737360" y="2734463"/>
            <a:ext cx="2743200" cy="274320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 w="25400">
            <a:solidFill>
              <a:srgbClr val="2E86A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331720" y="3291840"/>
            <a:ext cx="1554480" cy="1554480"/>
          </a:xfrm>
          <a:prstGeom prst="ellipse">
            <a:avLst/>
          </a:prstGeom>
          <a:solidFill>
            <a:srgbClr val="FFD43B"/>
          </a:solidFill>
          <a:ln w="25400">
            <a:solidFill>
              <a:srgbClr val="0F2E4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035040" y="2011680"/>
            <a:ext cx="219456" cy="219456"/>
          </a:xfrm>
          <a:prstGeom prst="ellipse">
            <a:avLst/>
          </a:prstGeom>
          <a:solidFill>
            <a:srgbClr val="1B4B6B"/>
          </a:solidFill>
          <a:ln/>
        </p:spPr>
      </p:sp>
      <p:sp>
        <p:nvSpPr>
          <p:cNvPr id="9" name="Text 7"/>
          <p:cNvSpPr/>
          <p:nvPr/>
        </p:nvSpPr>
        <p:spPr>
          <a:xfrm>
            <a:off x="6446520" y="1892808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Artificial Intelligence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46520" y="2240280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system built to perform tasks that normally need human intelligence — reasoning, perception, decision-making.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035040" y="3429000"/>
            <a:ext cx="219456" cy="219456"/>
          </a:xfrm>
          <a:prstGeom prst="ellipse">
            <a:avLst/>
          </a:prstGeom>
          <a:solidFill>
            <a:srgbClr val="2E86AB"/>
          </a:solidFill>
          <a:ln/>
        </p:spPr>
      </p:sp>
      <p:sp>
        <p:nvSpPr>
          <p:cNvPr id="12" name="Text 10"/>
          <p:cNvSpPr/>
          <p:nvPr/>
        </p:nvSpPr>
        <p:spPr>
          <a:xfrm>
            <a:off x="6446520" y="3310128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46520" y="3657600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specific approach to AI: instead of hand-coding rules, the system learns patterns directly from data.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035040" y="4846320"/>
            <a:ext cx="219456" cy="219456"/>
          </a:xfrm>
          <a:prstGeom prst="ellipse">
            <a:avLst/>
          </a:prstGeom>
          <a:solidFill>
            <a:srgbClr val="0F2E44"/>
          </a:solidFill>
          <a:ln/>
        </p:spPr>
      </p:sp>
      <p:sp>
        <p:nvSpPr>
          <p:cNvPr id="15" name="Text 13"/>
          <p:cNvSpPr/>
          <p:nvPr/>
        </p:nvSpPr>
        <p:spPr>
          <a:xfrm>
            <a:off x="6446520" y="4727448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46520" y="5074920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specific approach to ML using layered neural networks — powers image recognition, LLMs, and more.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9C8E63F-1550-4DEE-B5C9-B8DC9D434B15}"/>
              </a:ext>
            </a:extLst>
          </p:cNvPr>
          <p:cNvSpPr txBox="1"/>
          <p:nvPr/>
        </p:nvSpPr>
        <p:spPr>
          <a:xfrm>
            <a:off x="2479431" y="2365131"/>
            <a:ext cx="15386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483E8C2-8993-45B6-917B-E158F5CA6CA7}"/>
              </a:ext>
            </a:extLst>
          </p:cNvPr>
          <p:cNvSpPr txBox="1"/>
          <p:nvPr/>
        </p:nvSpPr>
        <p:spPr>
          <a:xfrm>
            <a:off x="2347546" y="2851845"/>
            <a:ext cx="15386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ML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32025A1-F80C-4672-BFD2-A83A1212248B}"/>
              </a:ext>
            </a:extLst>
          </p:cNvPr>
          <p:cNvSpPr txBox="1"/>
          <p:nvPr/>
        </p:nvSpPr>
        <p:spPr>
          <a:xfrm>
            <a:off x="2644726" y="3852438"/>
            <a:ext cx="153865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Deep Learning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IDEA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858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Machine Learning, Really?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394960" cy="3977640"/>
          </a:xfrm>
          <a:prstGeom prst="roundRect">
            <a:avLst>
              <a:gd name="adj" fmla="val 2299"/>
            </a:avLst>
          </a:prstGeom>
          <a:solidFill>
            <a:srgbClr val="F2F6F9"/>
          </a:solidFill>
          <a:ln/>
          <a:effectLst>
            <a:outerShdw blurRad="88900" dist="25400" dir="5400000" algn="bl" rotWithShape="0">
              <a:srgbClr val="8B9BA8">
                <a:alpha val="2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210312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Traditional Programming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868680" y="2651760"/>
            <a:ext cx="4754880" cy="1600200"/>
          </a:xfrm>
          <a:prstGeom prst="roundRect">
            <a:avLst>
              <a:gd name="adj" fmla="val 4571"/>
            </a:avLst>
          </a:prstGeom>
          <a:solidFill>
            <a:srgbClr val="0F2A3D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097280" y="2816352"/>
            <a:ext cx="4297680" cy="1271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7E4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Rules  +  Data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7E4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↓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7E4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Program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7E4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↓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7E4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Output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68680" y="4434840"/>
            <a:ext cx="47548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write explicit rules by hand (“if score &gt;= 70, pass”). The program only does exactly what you told it.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17920" y="1828800"/>
            <a:ext cx="5394960" cy="3977640"/>
          </a:xfrm>
          <a:prstGeom prst="roundRect">
            <a:avLst>
              <a:gd name="adj" fmla="val 2299"/>
            </a:avLst>
          </a:prstGeom>
          <a:solidFill>
            <a:srgbClr val="F2F6F9"/>
          </a:solidFill>
          <a:ln/>
          <a:effectLst>
            <a:outerShdw blurRad="88900" dist="25400" dir="5400000" algn="bl" rotWithShape="0">
              <a:srgbClr val="8B9BA8">
                <a:alpha val="2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537960" y="210312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Machine Learning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537960" y="2651760"/>
            <a:ext cx="4754880" cy="1600200"/>
          </a:xfrm>
          <a:prstGeom prst="roundRect">
            <a:avLst>
              <a:gd name="adj" fmla="val 4571"/>
            </a:avLst>
          </a:prstGeom>
          <a:solidFill>
            <a:srgbClr val="0F2A3D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766560" y="2816352"/>
            <a:ext cx="4297680" cy="1271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7E4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  +  Output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7E4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↓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7E4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Trained Model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7E4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↓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7E4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Learned Rules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537960" y="4434840"/>
            <a:ext cx="47548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show the system many examples of inputs and correct outputs. It figures out the pattern itself.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IDEA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858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Types of Machine Learning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611880" cy="4206240"/>
          </a:xfrm>
          <a:prstGeom prst="roundRect">
            <a:avLst>
              <a:gd name="adj" fmla="val 2532"/>
            </a:avLst>
          </a:prstGeom>
          <a:solidFill>
            <a:srgbClr val="F2F6F9"/>
          </a:solidFill>
          <a:ln/>
          <a:effectLst>
            <a:outerShdw blurRad="88900" dist="25400" dir="5400000" algn="bl" rotWithShape="0">
              <a:srgbClr val="8B9BA8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057400"/>
            <a:ext cx="685800" cy="685800"/>
          </a:xfrm>
          <a:prstGeom prst="ellipse">
            <a:avLst/>
          </a:prstGeom>
          <a:solidFill>
            <a:srgbClr val="1B4B6B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7834" y="2146554"/>
            <a:ext cx="507492" cy="50749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68680" y="292608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Supervised Learning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868680" y="3566160"/>
            <a:ext cx="2971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Learns from labeled examples — input paired with the correct answer.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822960" y="4846320"/>
            <a:ext cx="306324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DCE4E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60120" y="4910328"/>
            <a:ext cx="2788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</a:t>
            </a:r>
            <a:r>
              <a:rPr lang="en-US" sz="11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Predicting a student's exam score from study hours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4416552" y="1691640"/>
            <a:ext cx="3611880" cy="4206240"/>
          </a:xfrm>
          <a:prstGeom prst="roundRect">
            <a:avLst>
              <a:gd name="adj" fmla="val 2532"/>
            </a:avLst>
          </a:prstGeom>
          <a:solidFill>
            <a:srgbClr val="F2F6F9"/>
          </a:solidFill>
          <a:ln/>
          <a:effectLst>
            <a:outerShdw blurRad="88900" dist="25400" dir="5400000" algn="bl" rotWithShape="0">
              <a:srgbClr val="8B9BA8">
                <a:alpha val="2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736592" y="2057400"/>
            <a:ext cx="685800" cy="685800"/>
          </a:xfrm>
          <a:prstGeom prst="ellipse">
            <a:avLst/>
          </a:prstGeom>
          <a:solidFill>
            <a:srgbClr val="1B4B6B"/>
          </a:solidFill>
          <a:ln/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5746" y="2146554"/>
            <a:ext cx="507492" cy="50749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736592" y="292608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Unsupervised Learning</a:t>
            </a:r>
            <a:endParaRPr lang="en-US" sz="1700" dirty="0"/>
          </a:p>
        </p:txBody>
      </p:sp>
      <p:sp>
        <p:nvSpPr>
          <p:cNvPr id="15" name="Text 11"/>
          <p:cNvSpPr/>
          <p:nvPr/>
        </p:nvSpPr>
        <p:spPr>
          <a:xfrm>
            <a:off x="4736592" y="3566160"/>
            <a:ext cx="2971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Finds hidden patterns in data with no labeled answers given.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4690872" y="4846320"/>
            <a:ext cx="306324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DCE4EA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4828032" y="4910328"/>
            <a:ext cx="2788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</a:t>
            </a:r>
            <a:r>
              <a:rPr lang="en-US" sz="11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Grouping students by similar learning patterns</a:t>
            </a:r>
            <a:endParaRPr lang="en-US" sz="1150" dirty="0"/>
          </a:p>
        </p:txBody>
      </p:sp>
      <p:sp>
        <p:nvSpPr>
          <p:cNvPr id="18" name="Shape 14"/>
          <p:cNvSpPr/>
          <p:nvPr/>
        </p:nvSpPr>
        <p:spPr>
          <a:xfrm>
            <a:off x="8284464" y="1691640"/>
            <a:ext cx="3611880" cy="4206240"/>
          </a:xfrm>
          <a:prstGeom prst="roundRect">
            <a:avLst>
              <a:gd name="adj" fmla="val 2532"/>
            </a:avLst>
          </a:prstGeom>
          <a:solidFill>
            <a:srgbClr val="F2F6F9"/>
          </a:solidFill>
          <a:ln/>
          <a:effectLst>
            <a:outerShdw blurRad="88900" dist="25400" dir="5400000" algn="bl" rotWithShape="0">
              <a:srgbClr val="8B9BA8">
                <a:alpha val="22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8604504" y="2057400"/>
            <a:ext cx="685800" cy="685800"/>
          </a:xfrm>
          <a:prstGeom prst="ellipse">
            <a:avLst/>
          </a:prstGeom>
          <a:solidFill>
            <a:srgbClr val="1B4B6B"/>
          </a:solidFill>
          <a:ln/>
        </p:spPr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93658" y="2146554"/>
            <a:ext cx="507492" cy="507492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8604504" y="292608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Reinforcement Learning</a:t>
            </a:r>
            <a:endParaRPr lang="en-US" sz="1700" dirty="0"/>
          </a:p>
        </p:txBody>
      </p:sp>
      <p:sp>
        <p:nvSpPr>
          <p:cNvPr id="22" name="Text 17"/>
          <p:cNvSpPr/>
          <p:nvPr/>
        </p:nvSpPr>
        <p:spPr>
          <a:xfrm>
            <a:off x="8604504" y="3566160"/>
            <a:ext cx="2971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Learns by trial and error, guided by rewards and penalties.</a:t>
            </a:r>
            <a:endParaRPr lang="en-US" sz="1250" dirty="0"/>
          </a:p>
        </p:txBody>
      </p:sp>
      <p:sp>
        <p:nvSpPr>
          <p:cNvPr id="23" name="Shape 18"/>
          <p:cNvSpPr/>
          <p:nvPr/>
        </p:nvSpPr>
        <p:spPr>
          <a:xfrm>
            <a:off x="8558784" y="4846320"/>
            <a:ext cx="306324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DCE4EA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8695944" y="4910328"/>
            <a:ext cx="2788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</a:t>
            </a:r>
            <a:r>
              <a:rPr lang="en-US" sz="11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agent learning to play a game by scoring points</a:t>
            </a:r>
            <a:endParaRPr lang="en-US" sz="1150" dirty="0"/>
          </a:p>
        </p:txBody>
      </p:sp>
      <p:sp>
        <p:nvSpPr>
          <p:cNvPr id="25" name="Text 20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ALREADY AROUND YOU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858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Use AI &amp; ML Every Day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611880" cy="1965960"/>
          </a:xfrm>
          <a:prstGeom prst="roundRect">
            <a:avLst>
              <a:gd name="adj" fmla="val 4651"/>
            </a:avLst>
          </a:prstGeom>
          <a:solidFill>
            <a:srgbClr val="F2F6F9"/>
          </a:solidFill>
          <a:ln/>
          <a:effectLst>
            <a:outerShdw blurRad="76200" dist="25400" dir="5400000" algn="bl" rotWithShape="0">
              <a:srgbClr val="8B9BA8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057400"/>
            <a:ext cx="594360" cy="594360"/>
          </a:xfrm>
          <a:prstGeom prst="ellipse">
            <a:avLst/>
          </a:prstGeom>
          <a:solidFill>
            <a:srgbClr val="2E86AB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0227" y="2134667"/>
            <a:ext cx="439826" cy="43982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205740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1554480" y="237744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YouTube/Netflix suggests next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416552" y="1737360"/>
            <a:ext cx="3611880" cy="1965960"/>
          </a:xfrm>
          <a:prstGeom prst="roundRect">
            <a:avLst>
              <a:gd name="adj" fmla="val 4651"/>
            </a:avLst>
          </a:prstGeom>
          <a:solidFill>
            <a:srgbClr val="F2F6F9"/>
          </a:solidFill>
          <a:ln/>
          <a:effectLst>
            <a:outerShdw blurRad="76200" dist="25400" dir="5400000" algn="bl" rotWithShape="0">
              <a:srgbClr val="8B9BA8">
                <a:alpha val="2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690872" y="2057400"/>
            <a:ext cx="594360" cy="594360"/>
          </a:xfrm>
          <a:prstGeom prst="ellipse">
            <a:avLst/>
          </a:prstGeom>
          <a:solidFill>
            <a:srgbClr val="2E86AB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8139" y="2134667"/>
            <a:ext cx="439826" cy="43982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22392" y="205740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Assistants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5422392" y="237744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Siri, Google Assistant understanding speech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8284464" y="1737360"/>
            <a:ext cx="3611880" cy="1965960"/>
          </a:xfrm>
          <a:prstGeom prst="roundRect">
            <a:avLst>
              <a:gd name="adj" fmla="val 4651"/>
            </a:avLst>
          </a:prstGeom>
          <a:solidFill>
            <a:srgbClr val="F2F6F9"/>
          </a:solidFill>
          <a:ln/>
          <a:effectLst>
            <a:outerShdw blurRad="76200" dist="25400" dir="5400000" algn="bl" rotWithShape="0">
              <a:srgbClr val="8B9BA8">
                <a:alpha val="2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558784" y="2057400"/>
            <a:ext cx="594360" cy="594360"/>
          </a:xfrm>
          <a:prstGeom prst="ellipse">
            <a:avLst/>
          </a:prstGeom>
          <a:solidFill>
            <a:srgbClr val="2E86AB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6051" y="2134667"/>
            <a:ext cx="439826" cy="43982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290304" y="205740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Spam Filters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9290304" y="237744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inbox sorting junk automatically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548640" y="3931920"/>
            <a:ext cx="3611880" cy="1965960"/>
          </a:xfrm>
          <a:prstGeom prst="roundRect">
            <a:avLst>
              <a:gd name="adj" fmla="val 4651"/>
            </a:avLst>
          </a:prstGeom>
          <a:solidFill>
            <a:srgbClr val="F2F6F9"/>
          </a:solidFill>
          <a:ln/>
          <a:effectLst>
            <a:outerShdw blurRad="76200" dist="25400" dir="5400000" algn="bl" rotWithShape="0">
              <a:srgbClr val="8B9BA8">
                <a:alpha val="2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822960" y="4251960"/>
            <a:ext cx="594360" cy="594360"/>
          </a:xfrm>
          <a:prstGeom prst="ellipse">
            <a:avLst/>
          </a:prstGeom>
          <a:solidFill>
            <a:srgbClr val="2E86AB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0227" y="4329227"/>
            <a:ext cx="439826" cy="43982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554480" y="425196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Chatbots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1554480" y="457200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support bots and AI assistants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4416552" y="3931920"/>
            <a:ext cx="3611880" cy="1965960"/>
          </a:xfrm>
          <a:prstGeom prst="roundRect">
            <a:avLst>
              <a:gd name="adj" fmla="val 4651"/>
            </a:avLst>
          </a:prstGeom>
          <a:solidFill>
            <a:srgbClr val="F2F6F9"/>
          </a:solidFill>
          <a:ln/>
          <a:effectLst>
            <a:outerShdw blurRad="76200" dist="25400" dir="5400000" algn="bl" rotWithShape="0">
              <a:srgbClr val="8B9BA8">
                <a:alpha val="20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690872" y="4251960"/>
            <a:ext cx="594360" cy="594360"/>
          </a:xfrm>
          <a:prstGeom prst="ellipse">
            <a:avLst/>
          </a:prstGeom>
          <a:solidFill>
            <a:srgbClr val="2E86AB"/>
          </a:solidFill>
          <a:ln/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68139" y="4329227"/>
            <a:ext cx="439826" cy="439826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422392" y="425196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Detection</a:t>
            </a:r>
            <a:endParaRPr lang="en-US" sz="1450" dirty="0"/>
          </a:p>
        </p:txBody>
      </p:sp>
      <p:sp>
        <p:nvSpPr>
          <p:cNvPr id="28" name="Text 21"/>
          <p:cNvSpPr/>
          <p:nvPr/>
        </p:nvSpPr>
        <p:spPr>
          <a:xfrm>
            <a:off x="5422392" y="457200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Banks flagging unusual transactions</a:t>
            </a:r>
            <a:endParaRPr lang="en-US" sz="1150" dirty="0"/>
          </a:p>
        </p:txBody>
      </p:sp>
      <p:sp>
        <p:nvSpPr>
          <p:cNvPr id="29" name="Shape 22"/>
          <p:cNvSpPr/>
          <p:nvPr/>
        </p:nvSpPr>
        <p:spPr>
          <a:xfrm>
            <a:off x="8284464" y="3931920"/>
            <a:ext cx="3611880" cy="1965960"/>
          </a:xfrm>
          <a:prstGeom prst="roundRect">
            <a:avLst>
              <a:gd name="adj" fmla="val 4651"/>
            </a:avLst>
          </a:prstGeom>
          <a:solidFill>
            <a:srgbClr val="F2F6F9"/>
          </a:solidFill>
          <a:ln/>
          <a:effectLst>
            <a:outerShdw blurRad="76200" dist="25400" dir="5400000" algn="bl" rotWithShape="0">
              <a:srgbClr val="8B9BA8">
                <a:alpha val="20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558784" y="4251960"/>
            <a:ext cx="594360" cy="594360"/>
          </a:xfrm>
          <a:prstGeom prst="ellipse">
            <a:avLst/>
          </a:prstGeom>
          <a:solidFill>
            <a:srgbClr val="2E86AB"/>
          </a:solidFill>
          <a:ln/>
        </p:spPr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36051" y="4329227"/>
            <a:ext cx="439826" cy="439826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9290304" y="425196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Unlock</a:t>
            </a:r>
            <a:endParaRPr lang="en-US" sz="1450" dirty="0"/>
          </a:p>
        </p:txBody>
      </p:sp>
      <p:sp>
        <p:nvSpPr>
          <p:cNvPr id="33" name="Text 25"/>
          <p:cNvSpPr/>
          <p:nvPr/>
        </p:nvSpPr>
        <p:spPr>
          <a:xfrm>
            <a:off x="9290304" y="457200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phone recognizing your face</a:t>
            </a:r>
            <a:endParaRPr lang="en-US" sz="1150" dirty="0"/>
          </a:p>
        </p:txBody>
      </p:sp>
      <p:sp>
        <p:nvSpPr>
          <p:cNvPr id="34" name="Text 2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 THE LANGUAGE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858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Vocabulary You'll Use Every Week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94960" cy="1417320"/>
          </a:xfrm>
          <a:prstGeom prst="roundRect">
            <a:avLst>
              <a:gd name="adj" fmla="val 5161"/>
            </a:avLst>
          </a:prstGeom>
          <a:solidFill>
            <a:srgbClr val="F2F6F9"/>
          </a:solidFill>
          <a:ln/>
        </p:spPr>
      </p:sp>
      <p:sp>
        <p:nvSpPr>
          <p:cNvPr id="5" name="Shape 3"/>
          <p:cNvSpPr/>
          <p:nvPr/>
        </p:nvSpPr>
        <p:spPr>
          <a:xfrm>
            <a:off x="804672" y="1947672"/>
            <a:ext cx="146304" cy="146304"/>
          </a:xfrm>
          <a:prstGeom prst="ellipse">
            <a:avLst/>
          </a:prstGeom>
          <a:solidFill>
            <a:srgbClr val="FFD43B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18288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1097280" y="224028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collection of examples used to train and test a model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126480" y="1691640"/>
            <a:ext cx="5394960" cy="1417320"/>
          </a:xfrm>
          <a:prstGeom prst="roundRect">
            <a:avLst>
              <a:gd name="adj" fmla="val 5161"/>
            </a:avLst>
          </a:prstGeom>
          <a:solidFill>
            <a:srgbClr val="F2F6F9"/>
          </a:solidFill>
          <a:ln/>
        </p:spPr>
      </p:sp>
      <p:sp>
        <p:nvSpPr>
          <p:cNvPr id="9" name="Shape 7"/>
          <p:cNvSpPr/>
          <p:nvPr/>
        </p:nvSpPr>
        <p:spPr>
          <a:xfrm>
            <a:off x="6382512" y="1947672"/>
            <a:ext cx="146304" cy="146304"/>
          </a:xfrm>
          <a:prstGeom prst="ellipse">
            <a:avLst/>
          </a:prstGeom>
          <a:solidFill>
            <a:srgbClr val="FFD43B"/>
          </a:solidFill>
          <a:ln/>
        </p:spPr>
      </p:sp>
      <p:sp>
        <p:nvSpPr>
          <p:cNvPr id="10" name="Text 8"/>
          <p:cNvSpPr/>
          <p:nvPr/>
        </p:nvSpPr>
        <p:spPr>
          <a:xfrm>
            <a:off x="6675120" y="18288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6675120" y="224028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input variables the model uses to make a prediction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246120"/>
            <a:ext cx="5394960" cy="1417320"/>
          </a:xfrm>
          <a:prstGeom prst="roundRect">
            <a:avLst>
              <a:gd name="adj" fmla="val 5161"/>
            </a:avLst>
          </a:prstGeom>
          <a:solidFill>
            <a:srgbClr val="F2F6F9"/>
          </a:solidFill>
          <a:ln/>
        </p:spPr>
      </p:sp>
      <p:sp>
        <p:nvSpPr>
          <p:cNvPr id="13" name="Shape 11"/>
          <p:cNvSpPr/>
          <p:nvPr/>
        </p:nvSpPr>
        <p:spPr>
          <a:xfrm>
            <a:off x="804672" y="3502152"/>
            <a:ext cx="146304" cy="146304"/>
          </a:xfrm>
          <a:prstGeom prst="ellipse">
            <a:avLst/>
          </a:prstGeom>
          <a:solidFill>
            <a:srgbClr val="FFD43B"/>
          </a:solidFill>
          <a:ln/>
        </p:spPr>
      </p:sp>
      <p:sp>
        <p:nvSpPr>
          <p:cNvPr id="14" name="Text 12"/>
          <p:cNvSpPr/>
          <p:nvPr/>
        </p:nvSpPr>
        <p:spPr>
          <a:xfrm>
            <a:off x="1097280" y="33832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Labels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1097280" y="379476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correct answers in supervised learning (what you're predicting)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126480" y="3246120"/>
            <a:ext cx="5394960" cy="1417320"/>
          </a:xfrm>
          <a:prstGeom prst="roundRect">
            <a:avLst>
              <a:gd name="adj" fmla="val 5161"/>
            </a:avLst>
          </a:prstGeom>
          <a:solidFill>
            <a:srgbClr val="F2F6F9"/>
          </a:solidFill>
          <a:ln/>
        </p:spPr>
      </p:sp>
      <p:sp>
        <p:nvSpPr>
          <p:cNvPr id="17" name="Shape 15"/>
          <p:cNvSpPr/>
          <p:nvPr/>
        </p:nvSpPr>
        <p:spPr>
          <a:xfrm>
            <a:off x="6382512" y="3502152"/>
            <a:ext cx="146304" cy="146304"/>
          </a:xfrm>
          <a:prstGeom prst="ellipse">
            <a:avLst/>
          </a:prstGeom>
          <a:solidFill>
            <a:srgbClr val="FFD43B"/>
          </a:solidFill>
          <a:ln/>
        </p:spPr>
      </p:sp>
      <p:sp>
        <p:nvSpPr>
          <p:cNvPr id="18" name="Text 16"/>
          <p:cNvSpPr/>
          <p:nvPr/>
        </p:nvSpPr>
        <p:spPr>
          <a:xfrm>
            <a:off x="6675120" y="33832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6675120" y="379476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trained system that takes inputs and produces predictions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4800600"/>
            <a:ext cx="5394960" cy="1417320"/>
          </a:xfrm>
          <a:prstGeom prst="roundRect">
            <a:avLst>
              <a:gd name="adj" fmla="val 5161"/>
            </a:avLst>
          </a:prstGeom>
          <a:solidFill>
            <a:srgbClr val="F2F6F9"/>
          </a:solidFill>
          <a:ln/>
        </p:spPr>
      </p:sp>
      <p:sp>
        <p:nvSpPr>
          <p:cNvPr id="21" name="Shape 19"/>
          <p:cNvSpPr/>
          <p:nvPr/>
        </p:nvSpPr>
        <p:spPr>
          <a:xfrm>
            <a:off x="804672" y="5056632"/>
            <a:ext cx="146304" cy="146304"/>
          </a:xfrm>
          <a:prstGeom prst="ellipse">
            <a:avLst/>
          </a:prstGeom>
          <a:solidFill>
            <a:srgbClr val="FFD43B"/>
          </a:solidFill>
          <a:ln/>
        </p:spPr>
      </p:sp>
      <p:sp>
        <p:nvSpPr>
          <p:cNvPr id="22" name="Text 20"/>
          <p:cNvSpPr/>
          <p:nvPr/>
        </p:nvSpPr>
        <p:spPr>
          <a:xfrm>
            <a:off x="1097280" y="49377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1097280" y="534924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process of a model learning patterns from data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126480" y="4800600"/>
            <a:ext cx="5394960" cy="1417320"/>
          </a:xfrm>
          <a:prstGeom prst="roundRect">
            <a:avLst>
              <a:gd name="adj" fmla="val 5161"/>
            </a:avLst>
          </a:prstGeom>
          <a:solidFill>
            <a:srgbClr val="F2F6F9"/>
          </a:solidFill>
          <a:ln/>
        </p:spPr>
      </p:sp>
      <p:sp>
        <p:nvSpPr>
          <p:cNvPr id="25" name="Shape 23"/>
          <p:cNvSpPr/>
          <p:nvPr/>
        </p:nvSpPr>
        <p:spPr>
          <a:xfrm>
            <a:off x="6382512" y="5056632"/>
            <a:ext cx="146304" cy="146304"/>
          </a:xfrm>
          <a:prstGeom prst="ellipse">
            <a:avLst/>
          </a:prstGeom>
          <a:solidFill>
            <a:srgbClr val="FFD43B"/>
          </a:solidFill>
          <a:ln/>
        </p:spPr>
      </p:sp>
      <p:sp>
        <p:nvSpPr>
          <p:cNvPr id="26" name="Text 24"/>
          <p:cNvSpPr/>
          <p:nvPr/>
        </p:nvSpPr>
        <p:spPr>
          <a:xfrm>
            <a:off x="6675120" y="49377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</a:t>
            </a:r>
            <a:endParaRPr lang="en-US" sz="1550" dirty="0"/>
          </a:p>
        </p:txBody>
      </p:sp>
      <p:sp>
        <p:nvSpPr>
          <p:cNvPr id="27" name="Text 25"/>
          <p:cNvSpPr/>
          <p:nvPr/>
        </p:nvSpPr>
        <p:spPr>
          <a:xfrm>
            <a:off x="6675120" y="534924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model's output when given new, unseen input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COMES TOGETHER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858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Machine Learning Workflow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exact pipeline is the spine of the whole 3-month program — Month 3 is entirely about the last two steps.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402336" y="2468880"/>
            <a:ext cx="1874520" cy="1828800"/>
          </a:xfrm>
          <a:prstGeom prst="roundRect">
            <a:avLst>
              <a:gd name="adj" fmla="val 5000"/>
            </a:avLst>
          </a:prstGeom>
          <a:solidFill>
            <a:srgbClr val="F2F6F9"/>
          </a:solidFill>
          <a:ln/>
          <a:effectLst>
            <a:outerShdw blurRad="76200" dist="25400" dir="5400000" algn="bl" rotWithShape="0">
              <a:srgbClr val="8B9BA8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39496" y="256032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86A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79776" y="2468880"/>
            <a:ext cx="1874520" cy="1828800"/>
          </a:xfrm>
          <a:prstGeom prst="roundRect">
            <a:avLst>
              <a:gd name="adj" fmla="val 5000"/>
            </a:avLst>
          </a:prstGeom>
          <a:solidFill>
            <a:srgbClr val="F2F6F9"/>
          </a:solidFill>
          <a:ln/>
          <a:effectLst>
            <a:outerShdw blurRad="76200" dist="25400" dir="5400000" algn="bl" rotWithShape="0">
              <a:srgbClr val="8B9BA8">
                <a:alpha val="2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916936" y="256032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86A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157216" y="2468880"/>
            <a:ext cx="1874520" cy="1828800"/>
          </a:xfrm>
          <a:prstGeom prst="roundRect">
            <a:avLst>
              <a:gd name="adj" fmla="val 5000"/>
            </a:avLst>
          </a:prstGeom>
          <a:solidFill>
            <a:srgbClr val="F2F6F9"/>
          </a:solidFill>
          <a:ln/>
          <a:effectLst>
            <a:outerShdw blurRad="76200" dist="25400" dir="5400000" algn="bl" rotWithShape="0">
              <a:srgbClr val="8B9BA8">
                <a:alpha val="2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294376" y="256032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86A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534656" y="2468880"/>
            <a:ext cx="1874520" cy="1828800"/>
          </a:xfrm>
          <a:prstGeom prst="roundRect">
            <a:avLst>
              <a:gd name="adj" fmla="val 5000"/>
            </a:avLst>
          </a:prstGeom>
          <a:solidFill>
            <a:srgbClr val="F2F6F9"/>
          </a:solidFill>
          <a:ln/>
          <a:effectLst>
            <a:outerShdw blurRad="76200" dist="25400" dir="5400000" algn="bl" rotWithShape="0">
              <a:srgbClr val="8B9BA8">
                <a:alpha val="2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671816" y="256032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86A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9912096" y="2468880"/>
            <a:ext cx="1874520" cy="1828800"/>
          </a:xfrm>
          <a:prstGeom prst="roundRect">
            <a:avLst>
              <a:gd name="adj" fmla="val 5000"/>
            </a:avLst>
          </a:prstGeom>
          <a:solidFill>
            <a:srgbClr val="F2F6F9"/>
          </a:solidFill>
          <a:ln/>
          <a:effectLst>
            <a:outerShdw blurRad="76200" dist="25400" dir="5400000" algn="bl" rotWithShape="0">
              <a:srgbClr val="8B9BA8">
                <a:alpha val="2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10049256" y="256032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86A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19556" y="2880360"/>
            <a:ext cx="640080" cy="640080"/>
          </a:xfrm>
          <a:prstGeom prst="ellipse">
            <a:avLst/>
          </a:prstGeom>
          <a:solidFill>
            <a:srgbClr val="1B4B6B"/>
          </a:solidFill>
          <a:ln/>
        </p:spPr>
      </p:sp>
      <p:pic>
        <p:nvPicPr>
          <p:cNvPr id="1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2766" y="2963570"/>
            <a:ext cx="473659" cy="473659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448056" y="370332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Data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2276856" y="3383280"/>
            <a:ext cx="502920" cy="0"/>
          </a:xfrm>
          <a:prstGeom prst="line">
            <a:avLst/>
          </a:prstGeom>
          <a:noFill/>
          <a:ln w="25400">
            <a:solidFill>
              <a:srgbClr val="2E86AB"/>
            </a:solidFill>
            <a:prstDash val="solid"/>
            <a:tailEnd type="triangle"/>
          </a:ln>
        </p:spPr>
      </p:sp>
      <p:sp>
        <p:nvSpPr>
          <p:cNvPr id="19" name="Shape 16"/>
          <p:cNvSpPr/>
          <p:nvPr/>
        </p:nvSpPr>
        <p:spPr>
          <a:xfrm>
            <a:off x="3396996" y="2880360"/>
            <a:ext cx="640080" cy="640080"/>
          </a:xfrm>
          <a:prstGeom prst="ellipse">
            <a:avLst/>
          </a:prstGeom>
          <a:solidFill>
            <a:srgbClr val="1B4B6B"/>
          </a:solidFill>
          <a:ln/>
        </p:spPr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80206" y="2963570"/>
            <a:ext cx="473659" cy="473659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2825496" y="370332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 Data</a:t>
            </a:r>
            <a:endParaRPr lang="en-US" sz="1250" dirty="0"/>
          </a:p>
        </p:txBody>
      </p:sp>
      <p:sp>
        <p:nvSpPr>
          <p:cNvPr id="22" name="Shape 18"/>
          <p:cNvSpPr/>
          <p:nvPr/>
        </p:nvSpPr>
        <p:spPr>
          <a:xfrm>
            <a:off x="4654296" y="3383280"/>
            <a:ext cx="502920" cy="0"/>
          </a:xfrm>
          <a:prstGeom prst="line">
            <a:avLst/>
          </a:prstGeom>
          <a:noFill/>
          <a:ln w="25400">
            <a:solidFill>
              <a:srgbClr val="2E86AB"/>
            </a:solidFill>
            <a:prstDash val="solid"/>
            <a:tailEnd type="triangle"/>
          </a:ln>
        </p:spPr>
      </p:sp>
      <p:sp>
        <p:nvSpPr>
          <p:cNvPr id="23" name="Shape 19"/>
          <p:cNvSpPr/>
          <p:nvPr/>
        </p:nvSpPr>
        <p:spPr>
          <a:xfrm>
            <a:off x="5774436" y="2880360"/>
            <a:ext cx="640080" cy="640080"/>
          </a:xfrm>
          <a:prstGeom prst="ellipse">
            <a:avLst/>
          </a:prstGeom>
          <a:solidFill>
            <a:srgbClr val="1B4B6B"/>
          </a:solidFill>
          <a:ln/>
        </p:spPr>
      </p:sp>
      <p:pic>
        <p:nvPicPr>
          <p:cNvPr id="2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57646" y="2963570"/>
            <a:ext cx="473659" cy="473659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5202936" y="370332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Model</a:t>
            </a:r>
            <a:endParaRPr lang="en-US" sz="1250" dirty="0"/>
          </a:p>
        </p:txBody>
      </p:sp>
      <p:sp>
        <p:nvSpPr>
          <p:cNvPr id="26" name="Shape 21"/>
          <p:cNvSpPr/>
          <p:nvPr/>
        </p:nvSpPr>
        <p:spPr>
          <a:xfrm>
            <a:off x="7031736" y="3383280"/>
            <a:ext cx="502920" cy="0"/>
          </a:xfrm>
          <a:prstGeom prst="line">
            <a:avLst/>
          </a:prstGeom>
          <a:noFill/>
          <a:ln w="25400">
            <a:solidFill>
              <a:srgbClr val="2E86AB"/>
            </a:solidFill>
            <a:prstDash val="solid"/>
            <a:tailEnd type="triangle"/>
          </a:ln>
        </p:spPr>
      </p:sp>
      <p:sp>
        <p:nvSpPr>
          <p:cNvPr id="27" name="Shape 22"/>
          <p:cNvSpPr/>
          <p:nvPr/>
        </p:nvSpPr>
        <p:spPr>
          <a:xfrm>
            <a:off x="8151876" y="2880360"/>
            <a:ext cx="640080" cy="640080"/>
          </a:xfrm>
          <a:prstGeom prst="ellipse">
            <a:avLst/>
          </a:prstGeom>
          <a:solidFill>
            <a:srgbClr val="1B4B6B"/>
          </a:solidFill>
          <a:ln/>
        </p:spPr>
      </p:sp>
      <p:pic>
        <p:nvPicPr>
          <p:cNvPr id="2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35086" y="2963570"/>
            <a:ext cx="473659" cy="473659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7580376" y="370332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</a:t>
            </a:r>
            <a:endParaRPr lang="en-US" sz="1250" dirty="0"/>
          </a:p>
        </p:txBody>
      </p:sp>
      <p:sp>
        <p:nvSpPr>
          <p:cNvPr id="30" name="Shape 24"/>
          <p:cNvSpPr/>
          <p:nvPr/>
        </p:nvSpPr>
        <p:spPr>
          <a:xfrm>
            <a:off x="9409176" y="3383280"/>
            <a:ext cx="502920" cy="0"/>
          </a:xfrm>
          <a:prstGeom prst="line">
            <a:avLst/>
          </a:prstGeom>
          <a:noFill/>
          <a:ln w="25400">
            <a:solidFill>
              <a:srgbClr val="2E86AB"/>
            </a:solidFill>
            <a:prstDash val="solid"/>
            <a:tailEnd type="triangle"/>
          </a:ln>
        </p:spPr>
      </p:sp>
      <p:sp>
        <p:nvSpPr>
          <p:cNvPr id="31" name="Shape 25"/>
          <p:cNvSpPr/>
          <p:nvPr/>
        </p:nvSpPr>
        <p:spPr>
          <a:xfrm>
            <a:off x="10529316" y="2880360"/>
            <a:ext cx="640080" cy="640080"/>
          </a:xfrm>
          <a:prstGeom prst="ellipse">
            <a:avLst/>
          </a:prstGeom>
          <a:solidFill>
            <a:srgbClr val="1B4B6B"/>
          </a:solidFill>
          <a:ln/>
        </p:spPr>
      </p:sp>
      <p:pic>
        <p:nvPicPr>
          <p:cNvPr id="3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612526" y="2963570"/>
            <a:ext cx="473659" cy="473659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9957816" y="370332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&amp; Monitor</a:t>
            </a:r>
            <a:endParaRPr lang="en-US" sz="1250" dirty="0"/>
          </a:p>
        </p:txBody>
      </p:sp>
      <p:sp>
        <p:nvSpPr>
          <p:cNvPr id="34" name="Text 27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MAKING IT CONCRETE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858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Tiny Example: Teaching a Model to Learn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Suppose the true relationship is </a:t>
            </a:r>
            <a:r>
              <a:rPr lang="en-US" sz="1400" b="1" dirty="0">
                <a:solidFill>
                  <a:srgbClr val="1B4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 = 2x + 1</a:t>
            </a:r>
            <a:r>
              <a:rPr lang="en-US" sz="14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but the model doesn't know that formula. It only sees example pairs and adjusts its own guess a little after each one — that adjustment process is “training.”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11064240" cy="4343400"/>
          </a:xfrm>
          <a:prstGeom prst="roundRect">
            <a:avLst>
              <a:gd name="adj" fmla="val 1684"/>
            </a:avLst>
          </a:prstGeom>
          <a:solidFill>
            <a:srgbClr val="0F2A3D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267712"/>
            <a:ext cx="10607040" cy="4014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6FA8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the model starts with a random guess for the pattern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7E4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weight, bias = 0.0, 0.0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7E4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examples = [(1, 3), (2, 5), (3, 7), (4, 9)]   # (x, y) pairs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7E4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epoch in range(1000):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7E4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x, y_actual in examples: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7E4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y_predicted = weight * x + bias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7E4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error = y_actual - y_predicted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7E4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# nudge the guess a little closer to correct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7E4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weight += 0.01 * error * x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7E4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bias += 0.01 * error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7E4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print(f"Learned: y = {weight:.2f}x + {bias:.2f}")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6FA8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-&gt; approaches "y = 2.00x + 1.00" the true pattern,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6FA8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  learned purely from examples, with no formula given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026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1371600"/>
            <a:ext cx="914400" cy="914400"/>
          </a:xfrm>
          <a:prstGeom prst="ellipse">
            <a:avLst/>
          </a:prstGeom>
          <a:solidFill>
            <a:srgbClr val="FFD43B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832" y="1490472"/>
            <a:ext cx="676656" cy="6766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77240" y="246888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822960" y="324612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8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is the field, ML is how machines learn from data, and Deep Learning is the modern engine behind most breakthroughs. Every week from here builds one more piece of this picture.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822960" y="4434840"/>
            <a:ext cx="5029200" cy="0"/>
          </a:xfrm>
          <a:prstGeom prst="line">
            <a:avLst/>
          </a:prstGeom>
          <a:noFill/>
          <a:ln w="19050">
            <a:solidFill>
              <a:srgbClr val="2B4A61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22960" y="46634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NEXT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822960" y="498348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— Python Programming Fundamentals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992</TotalTime>
  <Words>718</Words>
  <Application>Microsoft Office PowerPoint</Application>
  <PresentationFormat>Custom</PresentationFormat>
  <Paragraphs>123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Arial</vt:lpstr>
      <vt:lpstr>Calibri</vt:lpstr>
      <vt:lpstr>Cambria</vt:lpstr>
      <vt:lpstr>Consolas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usama Ali</cp:lastModifiedBy>
  <cp:revision>6</cp:revision>
  <dcterms:created xsi:type="dcterms:W3CDTF">2026-08-23T19:49:59Z</dcterms:created>
  <dcterms:modified xsi:type="dcterms:W3CDTF">2026-09-12T15:03:40Z</dcterms:modified>
</cp:coreProperties>
</file>