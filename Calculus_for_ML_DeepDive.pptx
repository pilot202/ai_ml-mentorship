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5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FOR ML  ·  FOCUSED DEEP DIVE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187452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Calculus for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77240" y="2606040"/>
            <a:ext cx="9144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347472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FA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Derivatives, gradients, and the chain rule — with worked examples and real ML applications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332720" y="1554480"/>
            <a:ext cx="1097280" cy="1097280"/>
          </a:xfrm>
          <a:prstGeom prst="ellipse">
            <a:avLst/>
          </a:prstGeom>
          <a:solidFill>
            <a:srgbClr val="FFD43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5366" y="1697126"/>
            <a:ext cx="811987" cy="81198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Calculus Matters for ML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2F6F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 model = minimizing a loss function. </a:t>
            </a:r>
            <a:pPr indent="0" marL="0">
              <a:buNone/>
            </a:pPr>
            <a:r>
              <a:rPr lang="en-US" sz="16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Calculus is simply the toolkit for finding that minimum — nothing more mystical than that.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3611880" cy="2834640"/>
          </a:xfrm>
          <a:prstGeom prst="roundRect">
            <a:avLst>
              <a:gd name="adj" fmla="val 3226"/>
            </a:avLst>
          </a:prstGeom>
          <a:solidFill>
            <a:srgbClr val="F2F6F9"/>
          </a:solidFill>
          <a:ln/>
          <a:effectLst>
            <a:outerShdw sx="100000" sy="100000" kx="0" ky="0" algn="bl" rotWithShape="0" blurRad="88900" dist="25400" dir="5400000">
              <a:srgbClr val="8B9BA8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3383280"/>
            <a:ext cx="685800" cy="685800"/>
          </a:xfrm>
          <a:prstGeom prst="ellipse">
            <a:avLst/>
          </a:prstGeom>
          <a:solidFill>
            <a:srgbClr val="1B4B6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7834" y="3472434"/>
            <a:ext cx="507492" cy="5074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42519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Derivatives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68680" y="470916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you the slope of the loss at your current parameters — which way is “downhill”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416552" y="3017520"/>
            <a:ext cx="3611880" cy="2834640"/>
          </a:xfrm>
          <a:prstGeom prst="roundRect">
            <a:avLst>
              <a:gd name="adj" fmla="val 3226"/>
            </a:avLst>
          </a:prstGeom>
          <a:solidFill>
            <a:srgbClr val="F2F6F9"/>
          </a:solidFill>
          <a:ln/>
          <a:effectLst>
            <a:outerShdw sx="100000" sy="100000" kx="0" ky="0" algn="bl" rotWithShape="0" blurRad="88900" dist="25400" dir="5400000">
              <a:srgbClr val="8B9BA8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36592" y="3383280"/>
            <a:ext cx="685800" cy="685800"/>
          </a:xfrm>
          <a:prstGeom prst="ellipse">
            <a:avLst/>
          </a:prstGeom>
          <a:solidFill>
            <a:srgbClr val="1B4B6B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5746" y="3472434"/>
            <a:ext cx="507492" cy="50749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36592" y="42519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Gradients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736592" y="470916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 derivatives to many parameters at once — a whole direction to move in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284464" y="3017520"/>
            <a:ext cx="3611880" cy="2834640"/>
          </a:xfrm>
          <a:prstGeom prst="roundRect">
            <a:avLst>
              <a:gd name="adj" fmla="val 3226"/>
            </a:avLst>
          </a:prstGeom>
          <a:solidFill>
            <a:srgbClr val="F2F6F9"/>
          </a:solidFill>
          <a:ln/>
          <a:effectLst>
            <a:outerShdw sx="100000" sy="100000" kx="0" ky="0" algn="bl" rotWithShape="0" blurRad="88900" dist="25400" dir="5400000">
              <a:srgbClr val="8B9BA8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604504" y="3383280"/>
            <a:ext cx="685800" cy="685800"/>
          </a:xfrm>
          <a:prstGeom prst="ellipse">
            <a:avLst/>
          </a:prstGeom>
          <a:solidFill>
            <a:srgbClr val="1B4B6B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3658" y="3472434"/>
            <a:ext cx="507492" cy="50749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604504" y="42519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Chain rule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8604504" y="470916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you compute gradients through deeply layered functions — this literally IS backpropagation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Derivative?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92224"/>
            <a:ext cx="128016" cy="128016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8249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22960" y="1993392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instantaneous rate of change of a function — how fast its output changes as the input changes, at a single exact point.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843784"/>
            <a:ext cx="128016" cy="128016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73405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meaning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22960" y="3044952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slope of the line tangent to the curve at that point.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895344"/>
            <a:ext cx="128016" cy="128016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78561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22960" y="4096512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f'(x), or dy/dx — both mean “the derivative of the function.”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946904"/>
            <a:ext cx="128016" cy="128016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83717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machine learning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22960" y="5148072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derivative of a loss function tells you which direction — and how strongly — to adjust a parameter to reduce error.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1737360"/>
            <a:ext cx="5394960" cy="3657600"/>
          </a:xfrm>
          <a:prstGeom prst="rect">
            <a:avLst/>
          </a:prstGeom>
          <a:solidFill>
            <a:srgbClr val="F2F6F9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8745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f(x) = x², tangent line at x = 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66560" y="3108960"/>
            <a:ext cx="214884" cy="347472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81444" y="3456432"/>
            <a:ext cx="214884" cy="310896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96328" y="3767328"/>
            <a:ext cx="214884" cy="274320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11212" y="4041648"/>
            <a:ext cx="214884" cy="237744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26096" y="4279392"/>
            <a:ext cx="214884" cy="201168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40980" y="4480560"/>
            <a:ext cx="214884" cy="164592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55864" y="4645152"/>
            <a:ext cx="214884" cy="128016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70748" y="4773168"/>
            <a:ext cx="214884" cy="91440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85632" y="4864608"/>
            <a:ext cx="214884" cy="54864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700516" y="4919472"/>
            <a:ext cx="214884" cy="18288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915400" y="4937760"/>
            <a:ext cx="214884" cy="-18288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30284" y="4919472"/>
            <a:ext cx="214884" cy="-54864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345168" y="4864608"/>
            <a:ext cx="214884" cy="-91440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60052" y="4773168"/>
            <a:ext cx="214884" cy="-128016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774936" y="4645152"/>
            <a:ext cx="214884" cy="-164592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989820" y="4480560"/>
            <a:ext cx="214884" cy="-201168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204704" y="4279392"/>
            <a:ext cx="214884" cy="-237744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419588" y="4041648"/>
            <a:ext cx="214884" cy="-274320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634472" y="3767328"/>
            <a:ext cx="214884" cy="-310896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849356" y="3456432"/>
            <a:ext cx="214884" cy="-347472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441180" y="4937760"/>
            <a:ext cx="1097280" cy="-914400"/>
          </a:xfrm>
          <a:prstGeom prst="line">
            <a:avLst/>
          </a:prstGeom>
          <a:noFill/>
          <a:ln w="31750">
            <a:solidFill>
              <a:srgbClr val="FFD43B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9944100" y="4434840"/>
            <a:ext cx="91440" cy="91440"/>
          </a:xfrm>
          <a:prstGeom prst="ellipse">
            <a:avLst/>
          </a:prstGeom>
          <a:solidFill>
            <a:srgbClr val="B33A3A"/>
          </a:solidFill>
          <a:ln/>
        </p:spPr>
      </p:sp>
      <p:sp>
        <p:nvSpPr>
          <p:cNvPr id="40" name="Text 38"/>
          <p:cNvSpPr/>
          <p:nvPr/>
        </p:nvSpPr>
        <p:spPr>
          <a:xfrm>
            <a:off x="10126980" y="40965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f'(1) = 2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217920" y="55321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Steeper curve = larger |derivative|. Flat curve ≈ 0 (a minimum or maximum).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Computing Derivatives: The Rules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2834640"/>
        </p:xfrm>
        <a:graphic>
          <a:graphicData uri="http://schemas.openxmlformats.org/drawingml/2006/table">
            <a:tbl>
              <a:tblPr/>
              <a:tblGrid>
                <a:gridCol w="2743200"/>
                <a:gridCol w="4663440"/>
                <a:gridCol w="36576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B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Formula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B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B6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rule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d/dx[x^n] = n·x^(n-1)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d/dx[x³] = 3x²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Constant multiple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d/dx[c·f(x)] = c·f'(x)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d/dx[5x²] = 10x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 rule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d/dx[f(x)+g(x)] = f'(x)+g'(x)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d/dx[x²+3x] = 2x+3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d/dx[c] = 0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d/dx[7] = 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572000"/>
            <a:ext cx="11064240" cy="1929384"/>
          </a:xfrm>
          <a:prstGeom prst="roundRect">
            <a:avLst>
              <a:gd name="adj" fmla="val 3791"/>
            </a:avLst>
          </a:prstGeom>
          <a:solidFill>
            <a:srgbClr val="0F2A3D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77240" y="4791456"/>
            <a:ext cx="1060704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sympy as sp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sp.symbols('x')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x**2 + 3*x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f_prime = sp.diff(f, x)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print(f_prime)              # 2*x + 3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print(f_prime.subs(x, 1))   # 5  -- the slope at x=1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DERIVATIVES — WORKED EXAMPLE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Derivative of a Loss Function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tiny model predicts ŷ = w·x. We measure squared error against the true value y, and want to know how to adjust w.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1064240" cy="4069080"/>
          </a:xfrm>
          <a:prstGeom prst="roundRect">
            <a:avLst>
              <a:gd name="adj" fmla="val 1798"/>
            </a:avLst>
          </a:prstGeom>
          <a:solidFill>
            <a:srgbClr val="0F2A3D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093976"/>
            <a:ext cx="10607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loss for one example: L(w) = (y - w*x)^2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with a fixed data point x=2, y=10, starting guess w=3: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sympy as sp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= sp.symbols('w')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x_val, y_val = 2, 10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(y_val - w * x_val) ** 2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dL_dw = sp.diff(L, w)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print(dL_dw)                    # -4*(-2*w + 10)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print(dL_dw.subs(w, 3))         # -16  -- the slope at w=3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negative slope means increasing w REDUCES the loss --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this single number is what tells gradient descent which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way to move 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Partial Derivatives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685800"/>
          </a:xfrm>
          <a:prstGeom prst="roundRect">
            <a:avLst>
              <a:gd name="adj" fmla="val 10667"/>
            </a:avLst>
          </a:prstGeom>
          <a:solidFill>
            <a:srgbClr val="F2F6F9"/>
          </a:solidFill>
          <a:ln w="15875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60020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4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∂f / ∂x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multiple inputs, a partial derivative measures the rate of change with respect to just ONE variable, holding all others fixed.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42900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models have many parameters </a:t>
            </a:r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(weights), </a:t>
            </a:r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need a partial derivative for EACH ONE to know how the loss responds to changing it individually.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600200"/>
            <a:ext cx="5394960" cy="3246120"/>
          </a:xfrm>
          <a:prstGeom prst="roundRect">
            <a:avLst>
              <a:gd name="adj" fmla="val 2254"/>
            </a:avLst>
          </a:prstGeom>
          <a:solidFill>
            <a:srgbClr val="0F2A3D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46520" y="1819656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sympy as sp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x, y = sp.symbols('x y')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x**2 + y**3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df_dx = sp.diff(f, x)   # treat y as a constant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df_dy = sp.diff(f, y)   # treat x as a constant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print(df_dx)   # 2*x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print(df_dy)   # 3*y**2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evaluate both at the point (1, 2)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print(df_dx.subs(x, 1))   # 2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print(df_dy.subs(y, 2))   # 12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Gradient Vector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F2F6F9"/>
          </a:solidFill>
          <a:ln w="15875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4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∇f = [ ∂f/∂x₁,  ∂f/∂x₂,  ...,  ∂f/∂xₙ ]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2660904"/>
            <a:ext cx="128016" cy="128016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53288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gradient collects every partial derivative into a single vector.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282696"/>
            <a:ext cx="128016" cy="128016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15468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points in the direction of steepest INCREASE of the function.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904488"/>
            <a:ext cx="128016" cy="128016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776472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 moves the OPPOSITE way — subtracting the gradient — to decrease loss as fast as possible.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526280"/>
            <a:ext cx="128016" cy="128016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398264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parameter in a model gets its own entry in this vector, updated simultaneously each training step.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5074920"/>
            <a:ext cx="11064240" cy="1160145"/>
          </a:xfrm>
          <a:prstGeom prst="roundRect">
            <a:avLst>
              <a:gd name="adj" fmla="val 6305"/>
            </a:avLst>
          </a:prstGeom>
          <a:solidFill>
            <a:srgbClr val="0F2A3D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" y="5294376"/>
            <a:ext cx="10607040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 gradient as a NumPy vector, ready for a gradient-descent step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gradient = np.array([2.0, 12.0])       # [df/dx, df/dy] from the last slide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params = params - learning_rate * gradient   # move opposite the gradient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Visualizing Gradient Descent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 the loss function as a bowl-shaped surface. Gradient descent takes repeated steps downhill toward the bottom.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463040" y="1920240"/>
            <a:ext cx="9235440" cy="3566160"/>
          </a:xfrm>
          <a:prstGeom prst="rect">
            <a:avLst/>
          </a:prstGeom>
          <a:solidFill>
            <a:srgbClr val="F2F6F9"/>
          </a:solidFill>
          <a:ln/>
        </p:spPr>
      </p:sp>
      <p:sp>
        <p:nvSpPr>
          <p:cNvPr id="6" name="Shape 4"/>
          <p:cNvSpPr/>
          <p:nvPr/>
        </p:nvSpPr>
        <p:spPr>
          <a:xfrm>
            <a:off x="2194560" y="2628900"/>
            <a:ext cx="259080" cy="309372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53640" y="2938272"/>
            <a:ext cx="259080" cy="288036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12720" y="3226308"/>
            <a:ext cx="259080" cy="266700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71800" y="3493008"/>
            <a:ext cx="259080" cy="245364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30880" y="3738372"/>
            <a:ext cx="259080" cy="224028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89960" y="3962400"/>
            <a:ext cx="259080" cy="202692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749040" y="4165092"/>
            <a:ext cx="259080" cy="181356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08120" y="4346448"/>
            <a:ext cx="259080" cy="160020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67200" y="4506468"/>
            <a:ext cx="259080" cy="138684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26280" y="4645152"/>
            <a:ext cx="259080" cy="117348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85360" y="4762500"/>
            <a:ext cx="259080" cy="96012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44440" y="4858512"/>
            <a:ext cx="259080" cy="74676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03520" y="4933188"/>
            <a:ext cx="259080" cy="53340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62600" y="4986528"/>
            <a:ext cx="259080" cy="32004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21680" y="5018532"/>
            <a:ext cx="259080" cy="10668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0760" y="5029200"/>
            <a:ext cx="259080" cy="-10668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39840" y="5018532"/>
            <a:ext cx="259080" cy="-32004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98920" y="4986528"/>
            <a:ext cx="259080" cy="-53340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58000" y="4933188"/>
            <a:ext cx="259080" cy="-74676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17080" y="4858512"/>
            <a:ext cx="259080" cy="-96012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76160" y="4762500"/>
            <a:ext cx="259080" cy="-117348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635240" y="4645152"/>
            <a:ext cx="259080" cy="-138684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94320" y="4506468"/>
            <a:ext cx="259080" cy="-160020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53400" y="4346448"/>
            <a:ext cx="259080" cy="-181356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12480" y="4165092"/>
            <a:ext cx="259080" cy="-202692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671560" y="3962400"/>
            <a:ext cx="259080" cy="-224028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930640" y="3738372"/>
            <a:ext cx="259080" cy="-245364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189720" y="3493008"/>
            <a:ext cx="259080" cy="-266700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448800" y="3226308"/>
            <a:ext cx="259080" cy="-288036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707880" y="2938272"/>
            <a:ext cx="259080" cy="-309372"/>
          </a:xfrm>
          <a:prstGeom prst="line">
            <a:avLst/>
          </a:prstGeom>
          <a:noFill/>
          <a:ln w="31750">
            <a:solidFill>
              <a:srgbClr val="1B4B6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61488" y="3280684"/>
            <a:ext cx="109728" cy="109728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37" name="Shape 35"/>
          <p:cNvSpPr/>
          <p:nvPr/>
        </p:nvSpPr>
        <p:spPr>
          <a:xfrm>
            <a:off x="2816352" y="3335548"/>
            <a:ext cx="1088136" cy="940918"/>
          </a:xfrm>
          <a:prstGeom prst="line">
            <a:avLst/>
          </a:prstGeom>
          <a:noFill/>
          <a:ln w="22225">
            <a:solidFill>
              <a:srgbClr val="B33A3A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3849624" y="4221602"/>
            <a:ext cx="109728" cy="109728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39" name="Shape 37"/>
          <p:cNvSpPr/>
          <p:nvPr/>
        </p:nvSpPr>
        <p:spPr>
          <a:xfrm>
            <a:off x="3904488" y="4276466"/>
            <a:ext cx="854964" cy="475259"/>
          </a:xfrm>
          <a:prstGeom prst="line">
            <a:avLst/>
          </a:prstGeom>
          <a:noFill/>
          <a:ln w="22225">
            <a:solidFill>
              <a:srgbClr val="B33A3A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4704588" y="4696861"/>
            <a:ext cx="109728" cy="109728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41" name="Shape 39"/>
          <p:cNvSpPr/>
          <p:nvPr/>
        </p:nvSpPr>
        <p:spPr>
          <a:xfrm>
            <a:off x="4759452" y="4751725"/>
            <a:ext cx="699516" cy="216027"/>
          </a:xfrm>
          <a:prstGeom prst="line">
            <a:avLst/>
          </a:prstGeom>
          <a:noFill/>
          <a:ln w="22225">
            <a:solidFill>
              <a:srgbClr val="B33A3A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5404104" y="4912888"/>
            <a:ext cx="109728" cy="109728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43" name="Shape 41"/>
          <p:cNvSpPr/>
          <p:nvPr/>
        </p:nvSpPr>
        <p:spPr>
          <a:xfrm>
            <a:off x="5458968" y="4967752"/>
            <a:ext cx="466344" cy="57607"/>
          </a:xfrm>
          <a:prstGeom prst="line">
            <a:avLst/>
          </a:prstGeom>
          <a:noFill/>
          <a:ln w="22225">
            <a:solidFill>
              <a:srgbClr val="B33A3A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5870448" y="4970496"/>
            <a:ext cx="109728" cy="109728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45" name="Shape 43"/>
          <p:cNvSpPr/>
          <p:nvPr/>
        </p:nvSpPr>
        <p:spPr>
          <a:xfrm>
            <a:off x="5925312" y="5025360"/>
            <a:ext cx="155448" cy="3840"/>
          </a:xfrm>
          <a:prstGeom prst="line">
            <a:avLst/>
          </a:prstGeom>
          <a:noFill/>
          <a:ln w="22225">
            <a:solidFill>
              <a:srgbClr val="B33A3A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6025896" y="4974336"/>
            <a:ext cx="109728" cy="109728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47" name="Text 45"/>
          <p:cNvSpPr/>
          <p:nvPr/>
        </p:nvSpPr>
        <p:spPr>
          <a:xfrm>
            <a:off x="2359152" y="28783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(random init)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806440" y="4526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reached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463040" y="5623560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size is proportional to the gradient's steepness — steps shrink automatically as you near the bottom.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RULE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Chain Rule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F2F6F9"/>
          </a:solidFill>
          <a:ln w="15875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4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d/dx[ f(g(x)) ] = f'(g(x)) · g'(x)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</a:t>
            </a:r>
            <a:pPr indent="0" marL="0"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whenever one function is nested inside another (a “composite function”), the chain rule differentiates the whole thing by multiplying the derivatives of each piece together.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11064240" cy="2642616"/>
          </a:xfrm>
          <a:prstGeom prst="roundRect">
            <a:avLst>
              <a:gd name="adj" fmla="val 2768"/>
            </a:avLst>
          </a:prstGeom>
          <a:solidFill>
            <a:srgbClr val="0F2A3D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3282696"/>
            <a:ext cx="10607040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f(x) = (3x + 1)^2 is really two nested functions: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inner: g(x) = 3x + 1        outer: f(u) = u^2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chain rule: f'(x) = 2*(3x+1) * 3 = 6*(3x+1)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sympy as sp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sp.symbols('x')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= (3*x + 1)**2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print(sp.diff(f, x))          # 6*(3*x + 1) -- matches!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5888736"/>
            <a:ext cx="11064240" cy="868680"/>
          </a:xfrm>
          <a:prstGeom prst="roundRect">
            <a:avLst>
              <a:gd name="adj" fmla="val 10526"/>
            </a:avLst>
          </a:prstGeom>
          <a:solidFill>
            <a:srgbClr val="F2F6F9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6025896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next: </a:t>
            </a:r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exact rule, applied layer after layer, is what backpropagation is.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RULE — ML APPLICATION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Chain Rule Is Backpropagation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neural network is a deep composite function: input → layer 1 → layer 2 → ... → loss. Backprop is the chain rule walking backward through it.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93776" y="2011680"/>
            <a:ext cx="2286000" cy="914400"/>
          </a:xfrm>
          <a:prstGeom prst="roundRect">
            <a:avLst>
              <a:gd name="adj" fmla="val 10000"/>
            </a:avLst>
          </a:prstGeom>
          <a:solidFill>
            <a:srgbClr val="F2F6F9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" y="2011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79776" y="2468880"/>
            <a:ext cx="685800" cy="0"/>
          </a:xfrm>
          <a:prstGeom prst="line">
            <a:avLst/>
          </a:prstGeom>
          <a:noFill/>
          <a:ln w="25400">
            <a:solidFill>
              <a:srgbClr val="2E86A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465576" y="2011680"/>
            <a:ext cx="2286000" cy="914400"/>
          </a:xfrm>
          <a:prstGeom prst="roundRect">
            <a:avLst>
              <a:gd name="adj" fmla="val 10000"/>
            </a:avLst>
          </a:prstGeom>
          <a:solidFill>
            <a:srgbClr val="1B4B6B"/>
          </a:solidFill>
          <a:ln/>
        </p:spPr>
      </p:sp>
      <p:sp>
        <p:nvSpPr>
          <p:cNvPr id="9" name="Text 7"/>
          <p:cNvSpPr/>
          <p:nvPr/>
        </p:nvSpPr>
        <p:spPr>
          <a:xfrm>
            <a:off x="3465576" y="2011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751576" y="2468880"/>
            <a:ext cx="685800" cy="0"/>
          </a:xfrm>
          <a:prstGeom prst="line">
            <a:avLst/>
          </a:prstGeom>
          <a:noFill/>
          <a:ln w="25400">
            <a:solidFill>
              <a:srgbClr val="2E86A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437376" y="2011680"/>
            <a:ext cx="2286000" cy="914400"/>
          </a:xfrm>
          <a:prstGeom prst="roundRect">
            <a:avLst>
              <a:gd name="adj" fmla="val 10000"/>
            </a:avLst>
          </a:prstGeom>
          <a:solidFill>
            <a:srgbClr val="1B4B6B"/>
          </a:solidFill>
          <a:ln/>
        </p:spPr>
      </p:sp>
      <p:sp>
        <p:nvSpPr>
          <p:cNvPr id="12" name="Text 10"/>
          <p:cNvSpPr/>
          <p:nvPr/>
        </p:nvSpPr>
        <p:spPr>
          <a:xfrm>
            <a:off x="6437376" y="2011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723376" y="2468880"/>
            <a:ext cx="685800" cy="0"/>
          </a:xfrm>
          <a:prstGeom prst="line">
            <a:avLst/>
          </a:prstGeom>
          <a:noFill/>
          <a:ln w="25400">
            <a:solidFill>
              <a:srgbClr val="2E86A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409176" y="2011680"/>
            <a:ext cx="2286000" cy="914400"/>
          </a:xfrm>
          <a:prstGeom prst="roundRect">
            <a:avLst>
              <a:gd name="adj" fmla="val 10000"/>
            </a:avLst>
          </a:prstGeom>
          <a:solidFill>
            <a:srgbClr val="F2F6F9"/>
          </a:solidFill>
          <a:ln w="19050">
            <a:solidFill>
              <a:srgbClr val="2E86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09176" y="2011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30632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pass: compute the prediction and loss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35204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pass: the chain rule propagates ∂Loss/∂(each weight) back through every layer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977640"/>
            <a:ext cx="11064240" cy="1117397"/>
          </a:xfrm>
          <a:prstGeom prst="roundRect">
            <a:avLst>
              <a:gd name="adj" fmla="val 6547"/>
            </a:avLst>
          </a:prstGeom>
          <a:solidFill>
            <a:srgbClr val="0F2A3D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77240" y="4197096"/>
            <a:ext cx="10607040" cy="6144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conceptually, for Loss = f3(f2(f1(x))):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d_loss_d_w1 = d_loss_d_f3 * d_f3_d_f2 * d_f2_d_f1 * d_f1_d_w1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FA8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     (this whole chain of multiplications IS backpropagation)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Descent From Scratch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Minimizing f(x) = (x − 3)² using nothing but its derivative.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1064240" cy="4008120"/>
          </a:xfrm>
          <a:prstGeom prst="roundRect">
            <a:avLst>
              <a:gd name="adj" fmla="val 1825"/>
            </a:avLst>
          </a:prstGeom>
          <a:solidFill>
            <a:srgbClr val="0F2A3D"/>
          </a:solidFill>
          <a:ln/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048256"/>
            <a:ext cx="10607040" cy="350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f(x):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(x - 3) ** 2       # minimum is at x = 3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f_prime(x):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2 * (x - 3)       # derivative via the power + chain rule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0.0                       # start with a random guess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learning_rate = 0.1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step in range(20):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grad = f_prime(x)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 = x - learning_rate * grad   # move OPPOSITE the gradient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step % 4 == 0: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print(f'step {step}: x = {x:.4f}, f(x) = {f(x):.4f}')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7E4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print(f'Final x: {x:.4f}  (should approach 3.0)')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SHOWS 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ML Applications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F2F6F9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65960"/>
            <a:ext cx="594360" cy="594360"/>
          </a:xfrm>
          <a:prstGeom prst="ellipse">
            <a:avLst/>
          </a:prstGeom>
          <a:solidFill>
            <a:srgbClr val="1B4B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227" y="2043227"/>
            <a:ext cx="439826" cy="4398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659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neural networks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26517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weight update, in every layer, is computed via gradients and the chain rule (backpropagation).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99632" y="169164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F2F6F9"/>
          </a:solidFill>
          <a:ln/>
        </p:spPr>
      </p:sp>
      <p:sp>
        <p:nvSpPr>
          <p:cNvPr id="10" name="Shape 7"/>
          <p:cNvSpPr/>
          <p:nvPr/>
        </p:nvSpPr>
        <p:spPr>
          <a:xfrm>
            <a:off x="6473952" y="1965960"/>
            <a:ext cx="594360" cy="594360"/>
          </a:xfrm>
          <a:prstGeom prst="ellipse">
            <a:avLst/>
          </a:prstGeom>
          <a:solidFill>
            <a:srgbClr val="1B4B6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219" y="2043227"/>
            <a:ext cx="439826" cy="43982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05472" y="19659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473952" y="26517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the best-fit parameters means minimizing a loss function with gradient-based optimization.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406908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F2F6F9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343400"/>
            <a:ext cx="594360" cy="594360"/>
          </a:xfrm>
          <a:prstGeom prst="ellipse">
            <a:avLst/>
          </a:prstGeom>
          <a:solidFill>
            <a:srgbClr val="1B4B6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227" y="4420667"/>
            <a:ext cx="439826" cy="43982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43434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tuning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22960" y="50292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learning rate scales how big each gradient-descent step is — too big overshoots, too small crawls.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99632" y="4069080"/>
            <a:ext cx="5394960" cy="2194560"/>
          </a:xfrm>
          <a:prstGeom prst="roundRect">
            <a:avLst>
              <a:gd name="adj" fmla="val 4167"/>
            </a:avLst>
          </a:prstGeom>
          <a:solidFill>
            <a:srgbClr val="F2F6F9"/>
          </a:solidFill>
          <a:ln/>
        </p:spPr>
      </p:sp>
      <p:sp>
        <p:nvSpPr>
          <p:cNvPr id="20" name="Shape 15"/>
          <p:cNvSpPr/>
          <p:nvPr/>
        </p:nvSpPr>
        <p:spPr>
          <a:xfrm>
            <a:off x="6473952" y="4343400"/>
            <a:ext cx="594360" cy="594360"/>
          </a:xfrm>
          <a:prstGeom prst="ellipse">
            <a:avLst/>
          </a:prstGeom>
          <a:solidFill>
            <a:srgbClr val="1B4B6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1219" y="4420667"/>
            <a:ext cx="439826" cy="43982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05472" y="43434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optimizers (Adam, etc.)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473952" y="50292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 plain gradient descent with smarter, adaptive step sizes — but gradients are still the foundation.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46504"/>
            <a:ext cx="146304" cy="146304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1848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derivative is a slope — it tells you how a function's output changes as you nudge the input.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523744"/>
            <a:ext cx="146304" cy="146304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3957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gradient is just a vector of derivatives — one per parameter — pointing toward steepest increase.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300984"/>
            <a:ext cx="146304" cy="146304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17296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 moves opposite the gradient, repeatedly, to minimize a loss function.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078224"/>
            <a:ext cx="146304" cy="146304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95020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chain rule differentiates nested (composite) functions by multiplying each piece's derivative.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855464"/>
            <a:ext cx="146304" cy="146304"/>
          </a:xfrm>
          <a:prstGeom prst="ellipse">
            <a:avLst/>
          </a:prstGeom>
          <a:solidFill>
            <a:srgbClr val="FFD43B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72744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 is the chain rule applied layer by layer through an entire neural network.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26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371600"/>
            <a:ext cx="914400" cy="914400"/>
          </a:xfrm>
          <a:prstGeom prst="ellipse">
            <a:avLst/>
          </a:prstGeom>
          <a:solidFill>
            <a:srgbClr val="FFD43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490472"/>
            <a:ext cx="676656" cy="6766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24688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Calculus, Demystified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822960" y="32461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Derivatives, gradients, and the chain rule aren't abstract math for their own sake — they're the literal mechanism by which every model you train learns.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822960" y="4206240"/>
            <a:ext cx="5029200" cy="0"/>
          </a:xfrm>
          <a:prstGeom prst="line">
            <a:avLst/>
          </a:prstGeom>
          <a:noFill/>
          <a:ln w="19050">
            <a:solidFill>
              <a:srgbClr val="2B4A6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4434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D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47548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3Blue1Brown — “Essence of Calculus” (YouTube) for visual intuition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2026-09-14T20:58:25Z</dcterms:created>
  <dcterms:modified xsi:type="dcterms:W3CDTF">2026-09-14T20:58:25Z</dcterms:modified>
</cp:coreProperties>
</file>