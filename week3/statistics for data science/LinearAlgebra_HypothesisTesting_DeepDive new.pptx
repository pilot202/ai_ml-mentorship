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 ·  MATH FOR ML  ·  DEEP DIVE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 &amp;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2468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foundations behind how every ML model actually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&amp; MATRICES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41605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41605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&amp; TESTS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332720" y="1417320"/>
            <a:ext cx="1097280" cy="10972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5366" y="1559966"/>
            <a:ext cx="811987" cy="81198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Foundations, One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you'll train later rests on these two pillars: the algebra that makes computation possible, and the statistics that make results trustworthy.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777240" cy="7772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441" y="243276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5387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&amp; vector operations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&amp; matrix multiplication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dot product, in depth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&amp; eigenvectors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19659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331720"/>
            <a:ext cx="777240" cy="7772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001" y="2432761"/>
            <a:ext cx="575158" cy="5751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37960" y="3246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37960" y="35387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6537960" y="416052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vs. alternative hypotheses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&amp; significance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test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A/B test example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 for Machine Learning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Vectors, matrices, the dot product, and eigenvalues — the language every ML algorithm is written 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494" y="1160374"/>
            <a:ext cx="879653" cy="8796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Vectors: What &amp;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82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list of numbers representing a magnitude and a direction.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3522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25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[v₁, v₂, ..., vₙ] — each entry is a component of the vector.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68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machine learning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2793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data point (a row of features) is a vector — e.g. a student's [study_hours, attendance, prior_score].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4937760" cy="27432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4078224"/>
            <a:ext cx="4389120" cy="0"/>
          </a:xfrm>
          <a:prstGeom prst="line">
            <a:avLst/>
          </a:prstGeom>
          <a:noFill/>
          <a:ln w="19050">
            <a:solidFill>
              <a:srgbClr val="B7C4C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83373" y="4297680"/>
            <a:ext cx="0" cy="-2194560"/>
          </a:xfrm>
          <a:prstGeom prst="line">
            <a:avLst/>
          </a:prstGeom>
          <a:noFill/>
          <a:ln w="19050">
            <a:solidFill>
              <a:srgbClr val="B7C4C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83373" y="4078224"/>
            <a:ext cx="3017520" cy="-1700784"/>
          </a:xfrm>
          <a:prstGeom prst="line">
            <a:avLst/>
          </a:prstGeom>
          <a:noFill/>
          <a:ln w="38100">
            <a:solidFill>
              <a:srgbClr val="1B4B6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526573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[3, 2]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60413" y="4151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(0,0)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279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as an arrow: direction + length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965192"/>
            <a:ext cx="10058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np.array([3, 2])              # a vector with 2 components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print(v.shape)                    # (2,) -- a 1-dimensional array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" cy="530352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586" y="1806306"/>
            <a:ext cx="392460" cy="392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19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61872" y="2029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component-by-component: [1,2] + [3,1] = [4,3]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30352" cy="530352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86" y="2812146"/>
            <a:ext cx="392460" cy="392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multiplication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61872" y="3035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every component: 2 × [1,2] = [2,4] (stretches the vector)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530352" cy="530352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86" y="3817986"/>
            <a:ext cx="392460" cy="392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730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(norm)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61872" y="4041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vector's length: ‖v‖ = √(v₁² + v₂² + ...)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754880"/>
            <a:ext cx="530352" cy="530352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86" y="4823826"/>
            <a:ext cx="392460" cy="392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4736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vector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261872" y="5047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rescaled to length 1: v̂ = v / ‖v‖ — keeps direction only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17220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400800" y="1901952"/>
            <a:ext cx="502920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2])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np.array([3, 1])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b)              # [4 3]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scalar multiplication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* a)              # [2 4]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magnitude (norm)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 = np.linalg.norm(a)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print(mag)                # 2.236...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unit vector (same direction, length 1)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unit_a = a / np.linalg.norm(a)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print(np.linalg.norm(unit_a))  # 1.0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Matrices: Structure &amp;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is a rectangular grid of numbers, </a:t>
            </a:r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rows × n columns</a:t>
            </a:r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 ML, a whole dataset (rows = data points, columns = features) is naturally a matrix.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 rows &amp; columns (n × 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20116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(I)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450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 on the diagonal, 0s elsewhere — the “1” of matrix multiplication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35021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 values only on the diagonal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3063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 (Aᵀ)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35021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rows and columns of 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416552"/>
            <a:ext cx="10607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 2, 3], [4, 5, 6]])   # 2x3 matrix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print(A.shape)                          # (2, 3)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np.eye(3)              # 3x3 identity matrix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print(A.T)                 # transpose -&gt; now 3x2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Multiplication, Worked Example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 × n) × (n × p) = (m × p) — the inner dimensions must match. Each output entry is a dot product of a row and a column.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 2]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 4]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20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 6]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 8]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675120" y="1920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9202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 22]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[43 50]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730752"/>
            <a:ext cx="106070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C[0,0] = (row 0 of A) . (col 0 of B) = 1*5 + 2*7 = 19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C[0,1] = (row 0 of A) . (col 1 of B) = 1*6 + 2*8 = 22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C[1,0] = (row 1 of A) . (col 0 of B) = 3*5 + 4*7 = 43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C[1,1] = (row 1 of A) . (col 1 of B) = 3*6 + 4*8 = 50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 2], [3, 4]])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np.array([[5, 6], [7, 8]])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@ B              # the @ operator does matrix multiplication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print(C)                # [[19 22], [43 50]]  -- matches by hand!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Note: matrix multiplication is NOT commutative -- A @ B != B @ 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Dot Product, In Depth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b = a₁b₁ + a₂b₂ + ... + aₙbₙ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definition — multiply matching components, sum the results.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b = ‖a‖ ‖b‖ cos(θ)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definition — relates the dot product to the angle θ between the two vectors.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= 0  →  vectors are orthogonal (perpendicular, 90°)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&gt; 0  →  vectors point in a broadly similar direction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&lt; 0  →  vectors point in broadly opposite directions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581912"/>
            <a:ext cx="502920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np.array([4, 5, 6])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algebraic: sum of products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dot_manual = sum(x * y for x, y in zip(a, b))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dot_np = np.dot(a, b)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print(dot_manual, dot_np)     # 32 32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geometric: angle between vectors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cos_theta = np.dot(a, b) /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np.linalg.norm(a) * np.linalg.norm(b)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angle_deg = np.degrees(np.arccos(cos_theta))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print(f'{angle_deg:.1f} degrees')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ML connection: a neuron's output is a dot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 of inputs and weights, plus a bias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np.dot(inputs, weights) + bias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Eigenvalues &amp; Eigenvectors: The Intuition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 = λ v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square matrix (a transformation). </a:t>
            </a:r>
            <a:pPr indent="0" marL="0">
              <a:buNone/>
            </a:pPr>
            <a:r>
              <a:rPr lang="en-US" sz="13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eigenvector — a special direction that </a:t>
            </a:r>
            <a:pPr indent="0" marL="0">
              <a:buNone/>
            </a:pPr>
            <a:r>
              <a:rPr lang="en-US" sz="13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stretches or shrinks, never rotates. </a:t>
            </a:r>
            <a:pPr indent="0" marL="0">
              <a:buNone/>
            </a:pPr>
            <a:r>
              <a:rPr lang="en-US" sz="13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(lambda) is the eigenvalue — how much it's stretched.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2F6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319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version: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matrix transforms space, most vectors change direction. Eigenvectors are the rare directions that stay on the same line — they just get longer or shorter by a factor of λ.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44348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vectors rotate under A...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15400" y="3279953"/>
            <a:ext cx="1463040" cy="-457200"/>
          </a:xfrm>
          <a:prstGeom prst="line">
            <a:avLst/>
          </a:prstGeom>
          <a:noFill/>
          <a:ln w="25400">
            <a:solidFill>
              <a:srgbClr val="9AA9B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15400" y="3279953"/>
            <a:ext cx="822960" cy="-1463040"/>
          </a:xfrm>
          <a:prstGeom prst="line">
            <a:avLst/>
          </a:prstGeom>
          <a:noFill/>
          <a:ln w="317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001000" y="3371393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→ rotated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0" y="3856482"/>
            <a:ext cx="46634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989527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an eigenvector only scales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5408676"/>
            <a:ext cx="0" cy="-502920"/>
          </a:xfrm>
          <a:prstGeom prst="line">
            <a:avLst/>
          </a:prstGeom>
          <a:noFill/>
          <a:ln w="25400">
            <a:solidFill>
              <a:srgbClr val="9AA9B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15400" y="5408676"/>
            <a:ext cx="0" cy="-96012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35240" y="55001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→ λv  (same line, scaled)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Eigenvalues: Worked Example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 − λI) = 0     — the “characteristic equation”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30552"/>
            <a:ext cx="1060704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Solve by hand for A = [[2, 1], [1, 2]]: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 - lambda*I = [[2-lambda, 1], [1, 2-lambda]]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det = (2-lambda)^2 - 1 = lambda^2 - 4*lambda + 3 = 0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= (lambda - 1)(lambda - 3) = 0  --&gt;  lambda = 1 or 3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np.array([[2, 1], [1, 2]])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eigenvalues, eigenvectors = np.linalg.eig(A)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print(eigenvalues)     # [1. 3.]  -- matches the hand calculation!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print(eigenvectors)    # each column is an eigenvector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verify: A @ v should equal lambda * v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eigenvectors[:, 0]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 = eigenvalues[0]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print(np.allclose(A @ v, lam * v))   # True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Matters: PCA &amp; Beyond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214655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 (PCA)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eigenvectors of a dataset's covariance matrix point along the directions of maximum variance — these become the “principal components” used to compress high-dimensional data.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746" y="214655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Eigenvalues rank importance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36592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eigenvalue tells you how much variance its eigenvector direction explains — sort by eigenvalue to keep only the most informative directions.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84464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04504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658" y="214655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04504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shows up in...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04504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PageRank algorithm, stability analysis of dynamic systems, and understanding how deep networks transform data layer by layer.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— CODE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1060704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tiny "dataset": 2 features, 4 data points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np.array([[2, 3], [4, 5], [6, 5], [8, 9]], dtype=float)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center the data (subtract the mean of each feature)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X_centered = X - X.mean(axis=0)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covariance matrix: describes how features vary together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cov_matrix = np.cov(X_centered.T)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print('Covariance matrix:\n', cov_matrix)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eigen-decomposition of the covariance matrix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eigenvalues, eigenvectors = np.linalg.eig(cov_matrix)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print('Eigenvalues:', eigenvalues)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print('Eigenvectors (principal component directions):\n', eigenvectors)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eigenvector with the largest eigenvalue is the direction of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maximum variance -- this is PCA's first principal component,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built from nothing but the ideas on this slide: vectors,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matrices, and eigenvalues.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decide, with real confidence, whether a result is meaningful or just noise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494" y="1160374"/>
            <a:ext cx="879653" cy="8796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Hypothesis Testing?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9001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Courtroom analogy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defendant is assumed innocent (H₀) until evidence is strong enough to convince you otherwise (H₁). You never “prove” innocence — you only fail to find enough evidence of guilt.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2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19001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statistics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 hypothesis): no effect or no difference exists. H₁ (alternative): there is a real effect or difference. We use data to decide which is better supported.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F2F6F9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3931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68680" y="43434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new teaching method improves test scores.”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method makes no difference to average scores.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method changes (e.g. improves) average scores.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Hypothesis Testing Process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02336" y="17830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9496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79776" y="17830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16936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57216" y="17830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94376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34656" y="17830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71816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912096" y="17830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49256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19556" y="21945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277770"/>
            <a:ext cx="473659" cy="4736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48056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H₀ &amp; H₁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276856" y="26974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396996" y="21945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206" y="2277770"/>
            <a:ext cx="473659" cy="4736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825496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α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654296" y="26974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774436" y="21945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46" y="2277770"/>
            <a:ext cx="473659" cy="47365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02936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031736" y="26974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8151876" y="21945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086" y="2277770"/>
            <a:ext cx="473659" cy="47365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80376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p-value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409176" y="26974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10529316" y="21945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2526" y="2277770"/>
            <a:ext cx="473659" cy="47365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957816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</p:spPr>
      </p:sp>
      <p:sp>
        <p:nvSpPr>
          <p:cNvPr id="34" name="Text 27"/>
          <p:cNvSpPr/>
          <p:nvPr/>
        </p:nvSpPr>
        <p:spPr>
          <a:xfrm>
            <a:off x="822960" y="42062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State hypotheses — write H₀ and H₁ before looking at results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Choose significance level (α) — typically 0.05, decided in advance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Collect data &amp; compute a test statistic — e.g. a t-statistic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the p-value from that test statistic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Compare p-value to α and decide: reject H₀, or fail to reject it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p-values, Alpha &amp; the Two Errors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seeing data this extreme (or more) if H₀ were actually true. A small p-value means the observed result would be surprising under H₀.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(alpha):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you choose beforehand (commonly 0.05). Decision rule: if p-value &lt; α, reject H₀.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86384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0" y="1554480"/>
            <a:ext cx="1691640" cy="822960"/>
          </a:xfrm>
          <a:prstGeom prst="rect">
            <a:avLst/>
          </a:prstGeom>
          <a:solidFill>
            <a:srgbClr val="F2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True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55480" y="1554480"/>
            <a:ext cx="1691640" cy="822960"/>
          </a:xfrm>
          <a:prstGeom prst="rect">
            <a:avLst/>
          </a:prstGeom>
          <a:solidFill>
            <a:srgbClr val="F2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False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2377440"/>
            <a:ext cx="1737360" cy="822960"/>
          </a:xfrm>
          <a:prstGeom prst="rect">
            <a:avLst/>
          </a:prstGeom>
          <a:solidFill>
            <a:srgbClr val="F2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0" y="2377440"/>
            <a:ext cx="1691640" cy="822960"/>
          </a:xfrm>
          <a:prstGeom prst="rect">
            <a:avLst/>
          </a:prstGeom>
          <a:solidFill>
            <a:srgbClr val="FBEA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Error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(false positive)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55480" y="2377440"/>
            <a:ext cx="1691640" cy="82296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(true positive)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200400"/>
            <a:ext cx="1737360" cy="822960"/>
          </a:xfrm>
          <a:prstGeom prst="rect">
            <a:avLst/>
          </a:prstGeom>
          <a:solidFill>
            <a:srgbClr val="F2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3200400"/>
            <a:ext cx="1691640" cy="82296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(true negative)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555480" y="3200400"/>
            <a:ext cx="1691640" cy="822960"/>
          </a:xfrm>
          <a:prstGeom prst="rect">
            <a:avLst/>
          </a:prstGeom>
          <a:solidFill>
            <a:srgbClr val="FBEA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Error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(false negative)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325112"/>
            <a:ext cx="106070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= 0.05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p_value = 0.03   # from a statistical test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p_value &lt; alpha: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print("Reject H0 -- result is statistically significant")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print("Fail to reject H0 -- not enough evidence")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Test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2834640"/>
                <a:gridCol w="4572000"/>
                <a:gridCol w="36576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One-sample t-test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one group's mean to a known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class average different from 70?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Two-sample t-test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the means of two independent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A vs. Method B test scores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t-test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the same subjects before &amp; 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before vs. after tutoring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association between categorical 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pass rate related to gender?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means across 3+ groups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scores across 4 class sections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A/B Test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does Teaching Method B produce higher scores than Method A?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93392"/>
            <a:ext cx="10607040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 import stats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group_a = np.array([65, 70, 68, 72, 66, 71, 69, 67])   # Method A scores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 = np.array([75, 78, 80, 74, 77, 82, 76, 79])   # Method B scores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H0: no difference in mean scores between methods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H1: there IS a difference in mean scores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t_statistic, p_value = stats.ttest_ind(group_a, group_b)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print(f'Mean A: {group_a.mean():.1f}, Mean B: {group_b.mean():.1f}')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print(f't-statistic: {t_statistic:.3f}, p-value: {p_value:.4f}')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= 0.05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p_value &lt; alpha: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print('Reject H0 -- Method B likely performs differently')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print('Fail to reject H0 -- not enough evidence of a difference')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Typical result: p-value ~0.0006 -&gt; reject H0 with high confidence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&amp; Misreadings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0372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p-hacking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many tests until one happens to be “significant” by chance inflates false positives.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965960"/>
            <a:ext cx="548640" cy="548640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75" y="203728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“p-value = probability H₀ is true”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73952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Wrong. The p-value assumes H₀ is true and asks how surprising the data would be — it says nothing about the probability H₀ is actually true.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427756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vs. practical significance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huge sample can make a tiny, meaningless difference “statistically significant.” Always check the effect size too.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99632" y="393192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6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4206240"/>
            <a:ext cx="548640" cy="548640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275" y="427756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73952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relationship doesn't tell you which variable is causing what — or if a third factor explains both.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3075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Pillars, Locked In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3063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gives models a language to compute in. Hypothesis testing gives you a way to trust — or challenge — what the results say.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384048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neural network layer is matrix multiplication + a dot product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and dimensionality reduction run on eigenvectors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a deployed model uses exactly this hypothesis-testing framework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often starts with a significance test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2026-09-10T05:17:59Z</dcterms:created>
  <dcterms:modified xsi:type="dcterms:W3CDTF">2026-09-10T05:17:59Z</dcterms:modified>
</cp:coreProperties>
</file>