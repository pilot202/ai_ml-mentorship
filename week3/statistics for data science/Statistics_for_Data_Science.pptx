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Salaries of 7 employees ($’000)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salary ($'000)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E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</c:v>
                </c:pt>
                <c:pt idx="1">
                  <c:v>32</c:v>
                </c:pt>
                <c:pt idx="2">
                  <c:v>32</c:v>
                </c:pt>
                <c:pt idx="3">
                  <c:v>35</c:v>
                </c:pt>
                <c:pt idx="4">
                  <c:v>36</c:v>
                </c:pt>
                <c:pt idx="5">
                  <c:v>38</c:v>
                </c:pt>
                <c:pt idx="6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2A-44E6-9F8C-0B1D66AF45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Standard normal distribution (μ = 0, σ = 1)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normal curve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Sheet1!$A$2:$A$34</c:f>
              <c:strCache>
                <c:ptCount val="33"/>
                <c:pt idx="0">
                  <c:v>-4.00</c:v>
                </c:pt>
                <c:pt idx="1">
                  <c:v>-3.75</c:v>
                </c:pt>
                <c:pt idx="2">
                  <c:v>-3.50</c:v>
                </c:pt>
                <c:pt idx="3">
                  <c:v>-3.25</c:v>
                </c:pt>
                <c:pt idx="4">
                  <c:v>-3.00</c:v>
                </c:pt>
                <c:pt idx="5">
                  <c:v>-2.75</c:v>
                </c:pt>
                <c:pt idx="6">
                  <c:v>-2.50</c:v>
                </c:pt>
                <c:pt idx="7">
                  <c:v>-2.25</c:v>
                </c:pt>
                <c:pt idx="8">
                  <c:v>-2.00</c:v>
                </c:pt>
                <c:pt idx="9">
                  <c:v>-1.75</c:v>
                </c:pt>
                <c:pt idx="10">
                  <c:v>-1.50</c:v>
                </c:pt>
                <c:pt idx="11">
                  <c:v>-1.25</c:v>
                </c:pt>
                <c:pt idx="12">
                  <c:v>-1.00</c:v>
                </c:pt>
                <c:pt idx="13">
                  <c:v>-0.75</c:v>
                </c:pt>
                <c:pt idx="14">
                  <c:v>-0.50</c:v>
                </c:pt>
                <c:pt idx="15">
                  <c:v>-0.25</c:v>
                </c:pt>
                <c:pt idx="16">
                  <c:v>0.00</c:v>
                </c:pt>
                <c:pt idx="17">
                  <c:v>0.25</c:v>
                </c:pt>
                <c:pt idx="18">
                  <c:v>0.50</c:v>
                </c:pt>
                <c:pt idx="19">
                  <c:v>0.75</c:v>
                </c:pt>
                <c:pt idx="20">
                  <c:v>1.00</c:v>
                </c:pt>
                <c:pt idx="21">
                  <c:v>1.25</c:v>
                </c:pt>
                <c:pt idx="22">
                  <c:v>1.50</c:v>
                </c:pt>
                <c:pt idx="23">
                  <c:v>1.75</c:v>
                </c:pt>
                <c:pt idx="24">
                  <c:v>2.00</c:v>
                </c:pt>
                <c:pt idx="25">
                  <c:v>2.25</c:v>
                </c:pt>
                <c:pt idx="26">
                  <c:v>2.50</c:v>
                </c:pt>
                <c:pt idx="27">
                  <c:v>2.75</c:v>
                </c:pt>
                <c:pt idx="28">
                  <c:v>3.00</c:v>
                </c:pt>
                <c:pt idx="29">
                  <c:v>3.25</c:v>
                </c:pt>
                <c:pt idx="30">
                  <c:v>3.50</c:v>
                </c:pt>
                <c:pt idx="31">
                  <c:v>3.75</c:v>
                </c:pt>
                <c:pt idx="32">
                  <c:v>4.00</c:v>
                </c:pt>
              </c:strCache>
            </c: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0</c:v>
                </c:pt>
                <c:pt idx="1">
                  <c:v>0</c:v>
                </c:pt>
                <c:pt idx="2">
                  <c:v>1E-3</c:v>
                </c:pt>
                <c:pt idx="3">
                  <c:v>2E-3</c:v>
                </c:pt>
                <c:pt idx="4">
                  <c:v>4.0000000000000001E-3</c:v>
                </c:pt>
                <c:pt idx="5">
                  <c:v>8.9999999999999993E-3</c:v>
                </c:pt>
                <c:pt idx="6">
                  <c:v>1.7999999999999999E-2</c:v>
                </c:pt>
                <c:pt idx="7">
                  <c:v>3.2000000000000001E-2</c:v>
                </c:pt>
                <c:pt idx="8">
                  <c:v>5.3999999999999999E-2</c:v>
                </c:pt>
                <c:pt idx="9">
                  <c:v>8.5999999999999993E-2</c:v>
                </c:pt>
                <c:pt idx="10">
                  <c:v>0.13</c:v>
                </c:pt>
                <c:pt idx="11">
                  <c:v>0.183</c:v>
                </c:pt>
                <c:pt idx="12">
                  <c:v>0.24199999999999999</c:v>
                </c:pt>
                <c:pt idx="13">
                  <c:v>0.30099999999999999</c:v>
                </c:pt>
                <c:pt idx="14">
                  <c:v>0.35199999999999998</c:v>
                </c:pt>
                <c:pt idx="15">
                  <c:v>0.38700000000000001</c:v>
                </c:pt>
                <c:pt idx="16">
                  <c:v>0.39900000000000002</c:v>
                </c:pt>
                <c:pt idx="17">
                  <c:v>0.38700000000000001</c:v>
                </c:pt>
                <c:pt idx="18">
                  <c:v>0.35199999999999998</c:v>
                </c:pt>
                <c:pt idx="19">
                  <c:v>0.30099999999999999</c:v>
                </c:pt>
                <c:pt idx="20">
                  <c:v>0.24199999999999999</c:v>
                </c:pt>
                <c:pt idx="21">
                  <c:v>0.183</c:v>
                </c:pt>
                <c:pt idx="22">
                  <c:v>0.13</c:v>
                </c:pt>
                <c:pt idx="23">
                  <c:v>8.5999999999999993E-2</c:v>
                </c:pt>
                <c:pt idx="24">
                  <c:v>5.3999999999999999E-2</c:v>
                </c:pt>
                <c:pt idx="25">
                  <c:v>3.2000000000000001E-2</c:v>
                </c:pt>
                <c:pt idx="26">
                  <c:v>1.7999999999999999E-2</c:v>
                </c:pt>
                <c:pt idx="27">
                  <c:v>8.9999999999999993E-3</c:v>
                </c:pt>
                <c:pt idx="28">
                  <c:v>4.0000000000000001E-3</c:v>
                </c:pt>
                <c:pt idx="29">
                  <c:v>2E-3</c:v>
                </c:pt>
                <c:pt idx="30">
                  <c:v>1E-3</c:v>
                </c:pt>
                <c:pt idx="31">
                  <c:v>0</c:v>
                </c:pt>
                <c:pt idx="32">
                  <c:v>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ADC-40F0-A95D-B1C70E0778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8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7A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494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2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548640"/>
            <a:ext cx="109728" cy="109728"/>
          </a:xfrm>
          <a:prstGeom prst="ellipse">
            <a:avLst/>
          </a:prstGeom>
          <a:solidFill>
            <a:srgbClr val="02C39A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58200" y="868680"/>
            <a:ext cx="96012" cy="96012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503920" y="1188720"/>
            <a:ext cx="82296" cy="82296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549640" y="1508760"/>
            <a:ext cx="68580" cy="685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95360" y="1828800"/>
            <a:ext cx="54864" cy="54864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&amp; STATISTICS FOR DATA SCIENCE — A STUDY GUIDE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Statistics for</a:t>
            </a:r>
            <a:endParaRPr lang="en-US" sz="5400" dirty="0"/>
          </a:p>
          <a:p>
            <a:pPr marL="0" indent="0">
              <a:lnSpc>
                <a:spcPts val="58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 Science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concepts, formulas, and worked examples adapted from Dhaval Patel's “Mathematics, Statistics for Data Science and Machine Learning” playlist (codebasics).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5212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Dhaval Patel  •  Channel: codebasics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youtube.com/playlist?list=PLeo1K3hjS3uuKaU2nBDwr6zrSOTzNCs0l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FA9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lessons from the playlist, in the order the tutor builds them — each grounded in a simple, relatable example.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3F8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185416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85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21305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vs Inferential Statistics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data you have vs. generalizing from a sample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026664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2666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971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Median, Mode &amp; Percentile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3282696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center — and when each measure lies to you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39896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3F8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3867912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8679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81304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&amp; Mean Absolute Deviation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4123944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spread around the center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709160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7091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654296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Distribution &amp; Z-Score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965192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bell curve and comparing values across scales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422392"/>
            <a:ext cx="11064240" cy="694944"/>
          </a:xfrm>
          <a:prstGeom prst="roundRect">
            <a:avLst>
              <a:gd name="adj" fmla="val 10526"/>
            </a:avLst>
          </a:prstGeom>
          <a:solidFill>
            <a:srgbClr val="F3F8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" y="55504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55504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63040" y="5495544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Logarithms &amp; Log-Normal Distribution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463040" y="5806440"/>
            <a:ext cx="9966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Taming skewed, multiplicative real-world data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Descriptive vs. Inferential Statistics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 frames this as the first fork in the road: are you describing the data in front of you, or using it to say something about data you haven't seen?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3F8F7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“What does my data show?”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4290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Organizes, summarizes, and presents the data you already collected — no generalizing beyond 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68680" y="4297680"/>
            <a:ext cx="4617720" cy="0"/>
          </a:xfrm>
          <a:prstGeom prst="line">
            <a:avLst/>
          </a:prstGeom>
          <a:noFill/>
          <a:ln w="9525">
            <a:solidFill>
              <a:srgbClr val="02809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86868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Reporting the average, spread, and shape of exam scores for the 40 students actually in the class.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5394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078992" y="531266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/ Median / Mode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56418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1078992" y="555955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&amp; tables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58887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1078992" y="5806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20574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3F8F7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33172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23317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8346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“What can I conclude beyond my data?”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342900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sample to estimate, test, and draw conclusions about a larger population.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297680"/>
            <a:ext cx="4617720" cy="0"/>
          </a:xfrm>
          <a:prstGeom prst="line">
            <a:avLst/>
          </a:prstGeom>
          <a:noFill/>
          <a:ln w="9525">
            <a:solidFill>
              <a:srgbClr val="00A896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6492240" y="443484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Surveying 500 shoppers to infer the buying habits of all customers nationwide.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5394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702552" y="5312664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564184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702552" y="555955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88873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6702552" y="5806440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Mean, Median, Mode &amp; Percentile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playlist's running example: a small salary dataset that shows how one outlier can pull the mean far from the “typical” value.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557784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400800" y="1965960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3F8F7"/>
          </a:solidFill>
          <a:ln/>
        </p:spPr>
      </p:sp>
      <p:sp>
        <p:nvSpPr>
          <p:cNvPr id="7" name="Text 4"/>
          <p:cNvSpPr/>
          <p:nvPr/>
        </p:nvSpPr>
        <p:spPr>
          <a:xfrm>
            <a:off x="6629400" y="2039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29400" y="229514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$46.1K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92440" y="2093976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upward by employee G's outlier salary — not “typical.”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0" y="2953512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3F8F7"/>
          </a:solidFill>
          <a:ln/>
        </p:spPr>
      </p:sp>
      <p:sp>
        <p:nvSpPr>
          <p:cNvPr id="11" name="Text 8"/>
          <p:cNvSpPr/>
          <p:nvPr/>
        </p:nvSpPr>
        <p:spPr>
          <a:xfrm>
            <a:off x="6629400" y="30266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29400" y="328269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$35K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092440" y="3081528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middle value when sorted — resistant to the outlier.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0" y="3941064"/>
            <a:ext cx="5212080" cy="841248"/>
          </a:xfrm>
          <a:prstGeom prst="roundRect">
            <a:avLst>
              <a:gd name="adj" fmla="val 8696"/>
            </a:avLst>
          </a:prstGeom>
          <a:solidFill>
            <a:srgbClr val="F3F8F7"/>
          </a:solidFill>
          <a:ln/>
        </p:spPr>
      </p:sp>
      <p:sp>
        <p:nvSpPr>
          <p:cNvPr id="15" name="Text 12"/>
          <p:cNvSpPr/>
          <p:nvPr/>
        </p:nvSpPr>
        <p:spPr>
          <a:xfrm>
            <a:off x="6629400" y="401421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629400" y="42702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$32K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092440" y="40690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frequently occurring salary in the group.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</p:spPr>
      </p:sp>
      <p:sp>
        <p:nvSpPr>
          <p:cNvPr id="19" name="Text 16"/>
          <p:cNvSpPr/>
          <p:nvPr/>
        </p:nvSpPr>
        <p:spPr>
          <a:xfrm>
            <a:off x="822960" y="51389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54132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Nth percentile is the value below which N% of the data falls. In this set, $38K sits near the 85th percentile — higher than 85% of salaries, but still nowhere near the mean of $46.1K.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Standard Deviation &amp; Mean Absolute Deviation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teams can share the same average score yet feel completely different to play against — spread is what separates them.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2331720"/>
          </a:xfrm>
          <a:prstGeom prst="roundRect">
            <a:avLst>
              <a:gd name="adj" fmla="val 3922"/>
            </a:avLst>
          </a:prstGeom>
          <a:solidFill>
            <a:srgbClr val="0C3B3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DEVIATION (MAD)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4505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 = Σ |xᵢ − mean|  /  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DEVIATION (σ)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7355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= √[ Σ (xᵢ − mean)²  /  n 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730752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(then rooting) penalizes large deviations more heavily than MAD's simple absolute value — why SD is the more common choice in data science.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201168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3F8F7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121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MEAN, DIFFERENT SPREAD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0" y="245059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A: 18, 20, 20, 22, 20   → mean 20, σ ≈ 1.26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0" y="27889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B: 5, 35, 10, 30, 20    → mean 20, σ ≈ 11.9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average runs per innings — but Team A is consistent, Team B is wildly unpredictable. Averages alone hide this.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CEA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IN DATA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510235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501091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σ signals a stable, predictable feature; high σ flags volatility or possible outliers.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546811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37667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 (standardization) subtracts the mean and divides by σ before feeding data into most ML models.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8680" y="5833872"/>
            <a:ext cx="82296" cy="8229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5742432"/>
            <a:ext cx="10332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underlies confidence intervals, control charts, and anomaly-detection thresholds.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Normal Distribution &amp; Z-Score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tutor's exercise: two exams with different means and spreads — z-scores put both scores on the same scale so they can be compared fairly.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649224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315200" y="1965960"/>
            <a:ext cx="4114800" cy="2880360"/>
          </a:xfrm>
          <a:prstGeom prst="roundRect">
            <a:avLst>
              <a:gd name="adj" fmla="val 3175"/>
            </a:avLst>
          </a:prstGeom>
          <a:solidFill>
            <a:srgbClr val="0C3B3F"/>
          </a:solidFill>
          <a:ln/>
        </p:spPr>
      </p:sp>
      <p:sp>
        <p:nvSpPr>
          <p:cNvPr id="7" name="Text 4"/>
          <p:cNvSpPr/>
          <p:nvPr/>
        </p:nvSpPr>
        <p:spPr>
          <a:xfrm>
            <a:off x="7589520" y="21214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FORMULA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589520" y="24231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(x − μ) / σ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589520" y="2971800"/>
            <a:ext cx="3566160" cy="0"/>
          </a:xfrm>
          <a:prstGeom prst="line">
            <a:avLst/>
          </a:prstGeom>
          <a:noFill/>
          <a:ln w="9525">
            <a:solidFill>
              <a:srgbClr val="1C5D6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89520" y="34015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exam:  μ = 60, σ = 10, your score = 75 → z = +1.5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589520" y="385876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exam:  μ = 70, σ = 5, your score = 78 → z = +1.6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589520" y="43434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though 78 &gt; 75, the math score (z = 1.5) and science score (z = 1.6) are almost equally impressive relative to each exam's own class.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48640" y="507492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18464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EMPIRICAL RULE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22960" y="545896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≈68% of values fall within ±1σ  ·  ≈95% within ±2σ  ·  ≈99.7% within ±3σ of the mean.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Logarithms &amp; Log-Normal Distribution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tutor's takeaway: logs compress huge ranges into readable scales — and many real-world quantities are log-normal, not normal.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94960" cy="3840480"/>
          </a:xfrm>
          <a:prstGeom prst="roundRect">
            <a:avLst>
              <a:gd name="adj" fmla="val 2381"/>
            </a:avLst>
          </a:prstGeom>
          <a:solidFill>
            <a:srgbClr val="F3F8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LOGARITHM DOES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54203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B2E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log₁₀(x) = y   ⟺   10ʸ = 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times do I multiply the base to reach x?” It turns multiplication into addition and squashes huge numeric ranges into small, comparable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4846320" cy="0"/>
          </a:xfrm>
          <a:prstGeom prst="line">
            <a:avLst/>
          </a:prstGeom>
          <a:noFill/>
          <a:ln w="9525">
            <a:solidFill>
              <a:srgbClr val="DCEA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8862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Richter (earthquake) and decibel (sound) scales are both log scales — a magnitude-6 quake releases ~32× more energy than a magnitude-5, not 20% more.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507492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data science: log-transforming a right-skewed feature (income, page views, house prices) before modeling makes patterns easier for algorithms — and analysts — to see.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2057400"/>
            <a:ext cx="5257800" cy="3840480"/>
          </a:xfrm>
          <a:prstGeom prst="roundRect">
            <a:avLst>
              <a:gd name="adj" fmla="val 2381"/>
            </a:avLst>
          </a:prstGeom>
          <a:solidFill>
            <a:srgbClr val="0C3B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LOG-NORMAL DISTRIBUTION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54203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ln(X) is normally distributed, X itself is log-normal.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up wherever growth is multiplicative rather than additive — many small percentage changes compounding over time: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3584448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50215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 &amp; investment returns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37960" y="3968496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38862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income distribution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4352544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42702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/ company sizes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4736592"/>
            <a:ext cx="73152" cy="7315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654296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7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Time-to-failure of components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46520" y="5120640"/>
            <a:ext cx="4754880" cy="0"/>
          </a:xfrm>
          <a:prstGeom prst="line">
            <a:avLst/>
          </a:prstGeom>
          <a:noFill/>
          <a:ln w="9525">
            <a:solidFill>
              <a:srgbClr val="1C5D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525780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9FC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 with a long tail — a log transform pulls it back toward a familiar bell shape for analysis.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E3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This Foundation Matters in Data Science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>
                    <a:alpha val="45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stats (mean, median, mode, σ) summarize a raw dataset during EDA.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15468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>
                    <a:alpha val="45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1188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Z-scores rescale features so models don't over-weight large-magnitude variables.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932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>
                    <a:alpha val="45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44652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algorithms (linear regression, PCA) assume roughly normal, log-transformed inputs.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23960" y="3108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274320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21945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>
                    <a:alpha val="45000"/>
                  </a:srgbClr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281160" y="2743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315468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0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Inferential statistics test whether a pattern in a sample generalizes to the population.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9524"/>
            </a:avLst>
          </a:prstGeom>
          <a:solidFill>
            <a:srgbClr val="F3F8F7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2120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lesson, the tutor keeps returning to one idea: choose the statistic that fits the question. Mean vs. median, SD vs. MAD, normal vs. log-normal — each pair trades robustness for simplicity, and picking wrong quietly misleads every step that follows.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for Data Science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2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1187</Words>
  <Application>Microsoft Office PowerPoint</Application>
  <PresentationFormat>Widescreen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usama Ali</cp:lastModifiedBy>
  <cp:revision>2</cp:revision>
  <dcterms:created xsi:type="dcterms:W3CDTF">2026-09-07T07:13:43Z</dcterms:created>
  <dcterms:modified xsi:type="dcterms:W3CDTF">2026-09-14T12:50:31Z</dcterms:modified>
</cp:coreProperties>
</file>